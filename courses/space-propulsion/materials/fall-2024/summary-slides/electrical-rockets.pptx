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71" r:id="rId3"/>
    <p:sldId id="269" r:id="rId4"/>
    <p:sldId id="27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56C4D86-F01B-4C51-9609-7BFC16DA573D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5283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4D86-F01B-4C51-9609-7BFC16DA573D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866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4D86-F01B-4C51-9609-7BFC16DA573D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3588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4D86-F01B-4C51-9609-7BFC16DA573D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184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4D86-F01B-4C51-9609-7BFC16DA573D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552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4D86-F01B-4C51-9609-7BFC16DA573D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10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4D86-F01B-4C51-9609-7BFC16DA573D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24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4D86-F01B-4C51-9609-7BFC16DA573D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716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4D86-F01B-4C51-9609-7BFC16DA573D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831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4D86-F01B-4C51-9609-7BFC16DA573D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879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4D86-F01B-4C51-9609-7BFC16DA573D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779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C56C4D86-F01B-4C51-9609-7BFC16DA573D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718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69421-45CE-4249-8D36-3BC6C15BFB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Section4</a:t>
            </a:r>
            <a:r>
              <a:rPr 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electrical ROCKETS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D81025-24F6-4F5E-ABE2-880F1CA226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783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C28FE6-0024-402B-9FE6-A51134F1BBFF}"/>
              </a:ext>
            </a:extLst>
          </p:cNvPr>
          <p:cNvSpPr txBox="1"/>
          <p:nvPr/>
        </p:nvSpPr>
        <p:spPr>
          <a:xfrm>
            <a:off x="2674195" y="37898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Electric Rockets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5DAB858-7E7D-4A7E-86E0-F0E5A110341B}"/>
                  </a:ext>
                </a:extLst>
              </p:cNvPr>
              <p:cNvSpPr txBox="1"/>
              <p:nvPr/>
            </p:nvSpPr>
            <p:spPr>
              <a:xfrm>
                <a:off x="535642" y="833498"/>
                <a:ext cx="6987988" cy="41324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b="1" kern="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Thruster efficiency </a:t>
                </a:r>
                <a14:m>
                  <m:oMath xmlns:m="http://schemas.openxmlformats.org/officeDocument/2006/math">
                    <m:r>
                      <a:rPr lang="en-US" sz="1600" b="1" i="0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               </m:t>
                    </m:r>
                    <m:r>
                      <m:rPr>
                        <m:sty m:val="p"/>
                      </m:rPr>
                      <a:rPr lang="en-US" sz="16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η</m:t>
                    </m:r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2</m:t>
                            </m:r>
                          </m:den>
                        </m:f>
                        <m:acc>
                          <m:accPr>
                            <m:chr m:val="̇"/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𝑚</m:t>
                            </m:r>
                          </m:e>
                        </m:acc>
                        <m:sSubSup>
                          <m:sSubSupPr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sub>
                          <m:sup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𝐸𝑃</m:t>
                        </m:r>
                      </m:den>
                    </m:f>
                  </m:oMath>
                </a14:m>
                <a:endParaRPr lang="en-US" sz="1600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1600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b="1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Thruster specific mass </a:t>
                </a:r>
                <a14:m>
                  <m:oMath xmlns:m="http://schemas.openxmlformats.org/officeDocument/2006/math">
                    <m:r>
                      <a:rPr lang="en-US" sz="1600" b="1" i="0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         </m:t>
                    </m:r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𝛼</m:t>
                    </m:r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𝐸𝑃</m:t>
                            </m:r>
                          </m:sub>
                        </m:sSub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𝑆</m:t>
                            </m:r>
                          </m:sub>
                        </m:sSub>
                      </m:num>
                      <m:den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𝐸𝑃</m:t>
                        </m:r>
                      </m:den>
                    </m:f>
                  </m:oMath>
                </a14:m>
                <a:endParaRPr lang="en-US" sz="1600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1600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𝑀</m:t>
                        </m:r>
                      </m:e>
                      <m:sub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𝑀</m:t>
                        </m:r>
                      </m:e>
                      <m:sub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𝐿</m:t>
                        </m:r>
                      </m:sub>
                    </m:sSub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𝑀</m:t>
                        </m:r>
                      </m:e>
                      <m:sub>
                        <m:r>
                          <a:rPr lang="en-US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sub>
                    </m:sSub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𝑀</m:t>
                        </m:r>
                      </m:e>
                      <m:sub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𝑆</m:t>
                        </m:r>
                      </m:sub>
                    </m:sSub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+</m:t>
                    </m:r>
                  </m:oMath>
                </a14:m>
                <a:r>
                  <a:rPr lang="en-US" sz="1600" kern="100" dirty="0"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𝑀</m:t>
                        </m:r>
                      </m:e>
                      <m:sub>
                        <m:r>
                          <a:rPr lang="en-US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𝐸𝑃</m:t>
                        </m:r>
                      </m:sub>
                    </m:sSub>
                  </m:oMath>
                </a14:m>
                <a:endParaRPr lang="en-US" sz="1600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1600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𝑀</m:t>
                        </m:r>
                      </m:e>
                      <m:sub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sub>
                    </m:sSub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𝑀</m:t>
                        </m:r>
                      </m:e>
                      <m:sub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−</m:t>
                    </m:r>
                    <m:sSub>
                      <m:sSub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𝑀</m:t>
                        </m:r>
                      </m:e>
                      <m:sub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sz="16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1600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1600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𝐼</m:t>
                        </m:r>
                      </m:e>
                      <m:sub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𝑠𝑝</m:t>
                        </m:r>
                      </m:sub>
                    </m:sSub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6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1600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1600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∆</m:t>
                    </m:r>
                    <m:sSub>
                      <m:sSub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sub>
                    </m:sSub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𝑒</m:t>
                        </m:r>
                      </m:sub>
                    </m:sSub>
                    <m:func>
                      <m:func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𝑏</m:t>
                                </m:r>
                              </m:sub>
                            </m:sSub>
                          </m:den>
                        </m:f>
                      </m:e>
                    </m:func>
                  </m:oMath>
                </a14:m>
                <a:r>
                  <a:rPr lang="en-US" sz="16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1600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1600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b="1" kern="100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payload</m:t>
                    </m:r>
                    <m:r>
                      <m:rPr>
                        <m:nor/>
                      </m:rPr>
                      <a:rPr lang="en-US" sz="1600" b="1" kern="100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600" b="1" kern="100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mass</m:t>
                    </m:r>
                    <m:r>
                      <m:rPr>
                        <m:nor/>
                      </m:rPr>
                      <a:rPr lang="en-US" sz="1600" b="1" kern="100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600" b="1" kern="100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ratio</m:t>
                    </m:r>
                    <m:r>
                      <a:rPr lang="en-US" sz="1600" b="1" i="1" kern="100" dirty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</m:t>
                    </m:r>
                    <m:f>
                      <m:f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𝐿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1+</m:t>
                        </m:r>
                        <m:f>
                          <m:fPr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𝛼</m:t>
                            </m:r>
                            <m:sSubSup>
                              <m:sSubSupPr>
                                <m:ctrlP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𝑒</m:t>
                                </m:r>
                              </m:sub>
                              <m:sup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𝜂</m:t>
                            </m:r>
                            <m:sSub>
                              <m:sSubPr>
                                <m:ctrlP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𝑏</m:t>
                                </m:r>
                              </m:sub>
                            </m:sSub>
                          </m:den>
                        </m:f>
                      </m:e>
                    </m:d>
                    <m:sSup>
                      <m:sSup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𝑏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𝑒</m:t>
                                </m:r>
                              </m:sub>
                            </m:sSub>
                          </m:den>
                        </m:f>
                      </m:sup>
                    </m:sSup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−</m:t>
                    </m:r>
                    <m:f>
                      <m:f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𝛼</m:t>
                        </m:r>
                        <m:sSubSup>
                          <m:sSubSupPr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sub>
                          <m:sup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2</m:t>
                        </m:r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𝜂</m:t>
                        </m:r>
                        <m:sSub>
                          <m:sSubPr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𝑏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6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1600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5DAB858-7E7D-4A7E-86E0-F0E5A1103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642" y="833498"/>
                <a:ext cx="6987988" cy="4132478"/>
              </a:xfrm>
              <a:prstGeom prst="rect">
                <a:avLst/>
              </a:prstGeom>
              <a:blipFill>
                <a:blip r:embed="rId2"/>
                <a:stretch>
                  <a:fillRect l="-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64E11E-A556-453B-8FBE-577DFF1AE0D4}"/>
                  </a:ext>
                </a:extLst>
              </p:cNvPr>
              <p:cNvSpPr txBox="1"/>
              <p:nvPr/>
            </p:nvSpPr>
            <p:spPr>
              <a:xfrm>
                <a:off x="5556699" y="4398471"/>
                <a:ext cx="6987988" cy="5085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f>
                      <m:fPr>
                        <m:ctrlPr>
                          <a:rPr lang="en-US" sz="180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𝛼</m:t>
                        </m:r>
                      </m:num>
                      <m:den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𝜂</m:t>
                        </m:r>
                      </m:den>
                    </m:f>
                  </m:oMath>
                </a14:m>
                <a:r>
                  <a:rPr lang="en-US" sz="18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1800" b="0" i="0" kern="100" dirty="0" smtClean="0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</m:t>
                    </m:r>
                    <m:f>
                      <m:fPr>
                        <m:ctrlPr>
                          <a:rPr lang="en-US" sz="1800" i="1" kern="100" dirty="0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i="1" kern="100" dirty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𝑘𝑔</m:t>
                        </m:r>
                      </m:num>
                      <m:den>
                        <m:r>
                          <a:rPr lang="en-US" i="1" kern="100" dirty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𝑊</m:t>
                        </m:r>
                      </m:den>
                    </m:f>
                  </m:oMath>
                </a14:m>
                <a:endParaRPr lang="en-US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64E11E-A556-453B-8FBE-577DFF1AE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6699" y="4398471"/>
                <a:ext cx="6987988" cy="508537"/>
              </a:xfrm>
              <a:prstGeom prst="rect">
                <a:avLst/>
              </a:prstGeom>
              <a:blipFill>
                <a:blip r:embed="rId3"/>
                <a:stretch>
                  <a:fillRect b="-36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3F7C169-B935-4A73-BF47-324D2A9A0E20}"/>
                  </a:ext>
                </a:extLst>
              </p:cNvPr>
              <p:cNvSpPr txBox="1"/>
              <p:nvPr/>
            </p:nvSpPr>
            <p:spPr>
              <a:xfrm>
                <a:off x="535642" y="5005208"/>
                <a:ext cx="9914644" cy="20507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18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𝜂</m:t>
                            </m:r>
                            <m:sSub>
                              <m:sSubPr>
                                <m:ctrlP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𝑏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𝛼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sz="18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 </a:t>
                </a: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endParaRPr lang="en-US" sz="1800" kern="1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1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𝑰</m:t>
                        </m:r>
                      </m:e>
                      <m:sub>
                        <m:r>
                          <a:rPr lang="en-US" sz="1600" b="1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𝒔𝒑</m:t>
                        </m:r>
                      </m:sub>
                    </m:sSub>
                  </m:oMath>
                </a14:m>
                <a:r>
                  <a:rPr lang="en-US" sz="1600" b="1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for maximum payload ratio </a:t>
                </a:r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               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sub>
                        </m:sSub>
                      </m:num>
                      <m:den>
                        <m:r>
                          <a:rPr lang="en-US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𝑏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e>
                          <m:sup>
                            <m:f>
                              <m:fPr>
                                <m:ctrlPr>
                                  <a:rPr lang="en-US" sz="1600" i="1" kern="10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i="1" kern="10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∆</m:t>
                                </m:r>
                                <m:sSub>
                                  <m:sSubPr>
                                    <m:ctrlPr>
                                      <a:rPr lang="en-US" sz="1600" i="1" kern="100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kern="100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1600" i="1" kern="100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𝑏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1600" i="1" kern="100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kern="100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1600" i="1" kern="100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𝑒</m:t>
                                    </m:r>
                                  </m:sub>
                                </m:sSub>
                              </m:den>
                            </m:f>
                          </m:sup>
                        </m:sSup>
                        <m:r>
                          <a:rPr lang="en-US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−1</m:t>
                        </m:r>
                      </m:e>
                    </m:d>
                    <m:r>
                      <a:rPr lang="en-US" sz="1600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−</m:t>
                    </m:r>
                    <m:f>
                      <m:fPr>
                        <m:ctrlPr>
                          <a:rPr lang="en-US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2</m:t>
                        </m:r>
                      </m:den>
                    </m:f>
                    <m:f>
                      <m:fPr>
                        <m:ctrlPr>
                          <a:rPr lang="en-US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2</m:t>
                        </m:r>
                        <m:r>
                          <a:rPr lang="en-US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𝜂</m:t>
                        </m:r>
                        <m:sSub>
                          <m:sSubPr>
                            <m:ctrlPr>
                              <a:rPr lang="en-US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𝑏</m:t>
                            </m:r>
                          </m:sub>
                        </m:sSub>
                      </m:num>
                      <m:den>
                        <m:r>
                          <a:rPr lang="en-US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𝛼</m:t>
                        </m:r>
                        <m:sSubSup>
                          <m:sSubSupPr>
                            <m:ctrlPr>
                              <a:rPr lang="en-US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sub>
                          <m:sup>
                            <m:r>
                              <a:rPr lang="en-US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en-US" sz="1600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−</m:t>
                    </m:r>
                    <m:f>
                      <m:fPr>
                        <m:ctrlPr>
                          <a:rPr lang="en-US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2</m:t>
                        </m:r>
                      </m:den>
                    </m:f>
                    <m:r>
                      <a:rPr lang="en-US" sz="1600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=0</m:t>
                    </m:r>
                  </m:oMath>
                </a14:m>
                <a:r>
                  <a:rPr lang="en-US" sz="1600" kern="1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1800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8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 </a:t>
                </a:r>
                <a:endParaRPr lang="en-US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endParaRPr lang="en-US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3F7C169-B935-4A73-BF47-324D2A9A0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642" y="5005208"/>
                <a:ext cx="9914644" cy="20507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E8CFB626-B92F-4A4C-AB50-F97FF8260E6E}"/>
              </a:ext>
            </a:extLst>
          </p:cNvPr>
          <p:cNvSpPr txBox="1"/>
          <p:nvPr/>
        </p:nvSpPr>
        <p:spPr>
          <a:xfrm>
            <a:off x="6205155" y="5381159"/>
            <a:ext cx="73945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payload mass fraction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B16DCF-7C47-4509-9883-768EF6DAF6DF}"/>
              </a:ext>
            </a:extLst>
          </p:cNvPr>
          <p:cNvSpPr/>
          <p:nvPr/>
        </p:nvSpPr>
        <p:spPr>
          <a:xfrm>
            <a:off x="5440759" y="5766785"/>
            <a:ext cx="333074" cy="51543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07D3F7B-8AC2-4626-99A7-AD822D4E3D50}"/>
              </a:ext>
            </a:extLst>
          </p:cNvPr>
          <p:cNvCxnSpPr>
            <a:cxnSpLocks/>
          </p:cNvCxnSpPr>
          <p:nvPr/>
        </p:nvCxnSpPr>
        <p:spPr>
          <a:xfrm flipV="1">
            <a:off x="5722195" y="5588119"/>
            <a:ext cx="482960" cy="148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E1ACA258-9A97-4445-A04D-DAC352F9E1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1434" y="2900545"/>
            <a:ext cx="1226926" cy="205758"/>
          </a:xfrm>
          <a:prstGeom prst="rect">
            <a:avLst/>
          </a:prstGeom>
        </p:spPr>
      </p:pic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622EBA3B-E0AD-4902-AB77-35D89FE85627}"/>
              </a:ext>
            </a:extLst>
          </p:cNvPr>
          <p:cNvCxnSpPr>
            <a:cxnSpLocks/>
          </p:cNvCxnSpPr>
          <p:nvPr/>
        </p:nvCxnSpPr>
        <p:spPr>
          <a:xfrm>
            <a:off x="3123632" y="2328151"/>
            <a:ext cx="422001" cy="5273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CC3327C7-9D4F-4826-9C58-C1D6C764BFFB}"/>
              </a:ext>
            </a:extLst>
          </p:cNvPr>
          <p:cNvCxnSpPr>
            <a:cxnSpLocks/>
          </p:cNvCxnSpPr>
          <p:nvPr/>
        </p:nvCxnSpPr>
        <p:spPr>
          <a:xfrm rot="16200000" flipH="1">
            <a:off x="2400586" y="2493012"/>
            <a:ext cx="361696" cy="28301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8C1AF69-9E6B-47EB-9FEC-943466521610}"/>
              </a:ext>
            </a:extLst>
          </p:cNvPr>
          <p:cNvSpPr txBox="1"/>
          <p:nvPr/>
        </p:nvSpPr>
        <p:spPr>
          <a:xfrm>
            <a:off x="3635070" y="2216867"/>
            <a:ext cx="29951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Mass of power plant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122CB3D-4C94-49BA-B004-57CF19AA736C}"/>
                  </a:ext>
                </a:extLst>
              </p:cNvPr>
              <p:cNvSpPr txBox="1"/>
              <p:nvPr/>
            </p:nvSpPr>
            <p:spPr>
              <a:xfrm>
                <a:off x="4511351" y="3598034"/>
                <a:ext cx="1078116" cy="5320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122CB3D-4C94-49BA-B004-57CF19AA73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351" y="3598034"/>
                <a:ext cx="1078116" cy="53206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Oval 36">
            <a:extLst>
              <a:ext uri="{FF2B5EF4-FFF2-40B4-BE49-F238E27FC236}">
                <a16:creationId xmlns:a16="http://schemas.microsoft.com/office/drawing/2014/main" id="{C68E64CA-FB6E-4F51-AC16-91C3E970F3EB}"/>
              </a:ext>
            </a:extLst>
          </p:cNvPr>
          <p:cNvSpPr/>
          <p:nvPr/>
        </p:nvSpPr>
        <p:spPr>
          <a:xfrm>
            <a:off x="3808360" y="4196531"/>
            <a:ext cx="465934" cy="5581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49CBB4C-FF87-4E36-B0A0-0B3243B7B612}"/>
              </a:ext>
            </a:extLst>
          </p:cNvPr>
          <p:cNvCxnSpPr/>
          <p:nvPr/>
        </p:nvCxnSpPr>
        <p:spPr>
          <a:xfrm>
            <a:off x="5893256" y="4652739"/>
            <a:ext cx="2027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Curved 42">
            <a:extLst>
              <a:ext uri="{FF2B5EF4-FFF2-40B4-BE49-F238E27FC236}">
                <a16:creationId xmlns:a16="http://schemas.microsoft.com/office/drawing/2014/main" id="{C8AAE13F-3209-4C4D-9BE5-603B1D65E6CD}"/>
              </a:ext>
            </a:extLst>
          </p:cNvPr>
          <p:cNvCxnSpPr>
            <a:cxnSpLocks/>
          </p:cNvCxnSpPr>
          <p:nvPr/>
        </p:nvCxnSpPr>
        <p:spPr>
          <a:xfrm flipV="1">
            <a:off x="4041327" y="3869094"/>
            <a:ext cx="438275" cy="232360"/>
          </a:xfrm>
          <a:prstGeom prst="curvedConnector3">
            <a:avLst>
              <a:gd name="adj1" fmla="val 180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1723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F48BA2-8DF6-4751-AFCB-28F4260585AB}"/>
              </a:ext>
            </a:extLst>
          </p:cNvPr>
          <p:cNvSpPr txBox="1"/>
          <p:nvPr/>
        </p:nvSpPr>
        <p:spPr>
          <a:xfrm>
            <a:off x="2752165" y="310991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6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Electrostatic Thrusters</a:t>
            </a:r>
            <a:endParaRPr lang="en-US" sz="1600" kern="1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D09671-8B6E-4C05-ACF7-D0F61666F4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637" t="36892" r="11699" b="43614"/>
          <a:stretch/>
        </p:blipFill>
        <p:spPr>
          <a:xfrm>
            <a:off x="553087" y="1018716"/>
            <a:ext cx="2067452" cy="30434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8D53C0-51B8-4E44-86C4-E6DC8754BBEF}"/>
                  </a:ext>
                </a:extLst>
              </p:cNvPr>
              <p:cNvSpPr txBox="1"/>
              <p:nvPr/>
            </p:nvSpPr>
            <p:spPr>
              <a:xfrm>
                <a:off x="3552265" y="871428"/>
                <a:ext cx="6745940" cy="721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i="1" kern="10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𝑚</m:t>
                        </m:r>
                        <m:sSubSup>
                          <m:sSubSupPr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sub>
                          <m:sup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2</m:t>
                        </m:r>
                      </m:den>
                    </m:f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𝑞</m:t>
                    </m:r>
                    <m:sSub>
                      <m:sSub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𝑉</m:t>
                        </m:r>
                      </m:e>
                      <m:sub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sz="16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endParaRPr lang="en-US" sz="1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 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8D53C0-51B8-4E44-86C4-E6DC8754BB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2265" y="871428"/>
                <a:ext cx="6745940" cy="7211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62E64B1-596D-4EE4-8C68-8732F5C73495}"/>
                  </a:ext>
                </a:extLst>
              </p:cNvPr>
              <p:cNvSpPr txBox="1"/>
              <p:nvPr/>
            </p:nvSpPr>
            <p:spPr>
              <a:xfrm>
                <a:off x="6013605" y="1660461"/>
                <a:ext cx="538591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kern="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 = Ion mass        q = Ion charge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kern="10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𝑉</m:t>
                        </m:r>
                      </m:e>
                      <m:sub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sz="16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Voltage potential</a:t>
                </a:r>
                <a:endParaRPr lang="en-US" sz="1600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62E64B1-596D-4EE4-8C68-8732F5C734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605" y="1660461"/>
                <a:ext cx="5385912" cy="338554"/>
              </a:xfrm>
              <a:prstGeom prst="rect">
                <a:avLst/>
              </a:prstGeom>
              <a:blipFill>
                <a:blip r:embed="rId4"/>
                <a:stretch>
                  <a:fillRect l="-566" t="-535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3419F82-1369-4412-84A6-360FFED92392}"/>
                  </a:ext>
                </a:extLst>
              </p:cNvPr>
              <p:cNvSpPr txBox="1"/>
              <p:nvPr/>
            </p:nvSpPr>
            <p:spPr>
              <a:xfrm>
                <a:off x="8912349" y="4427619"/>
                <a:ext cx="3627765" cy="1248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 </a:t>
                </a:r>
                <a:endParaRPr lang="en-US" sz="1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𝑇</m:t>
                        </m:r>
                      </m:num>
                      <m:den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𝐴</m:t>
                        </m:r>
                      </m:den>
                    </m:f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8</m:t>
                        </m:r>
                      </m:num>
                      <m:den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9</m:t>
                        </m:r>
                      </m:den>
                    </m:f>
                    <m:sSub>
                      <m:sSub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𝜀</m:t>
                        </m:r>
                      </m:e>
                      <m:sub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16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16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𝑎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𝐿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1600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1600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ε</a:t>
                </a:r>
                <a:r>
                  <a:rPr lang="en-US" sz="1600" kern="100" baseline="-25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16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=8.85E-12 C</a:t>
                </a:r>
                <a:r>
                  <a:rPr lang="en-US" sz="1600" kern="100" baseline="30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16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/Nm</a:t>
                </a:r>
                <a:r>
                  <a:rPr lang="en-US" sz="1600" kern="100" baseline="30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1600" kern="100" baseline="300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=V*C</a:t>
                </a:r>
                <a:endParaRPr lang="en-US" sz="1600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3419F82-1369-4412-84A6-360FFED923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2349" y="4427619"/>
                <a:ext cx="3627765" cy="1248099"/>
              </a:xfrm>
              <a:prstGeom prst="rect">
                <a:avLst/>
              </a:prstGeom>
              <a:blipFill>
                <a:blip r:embed="rId5"/>
                <a:stretch>
                  <a:fillRect l="-840" b="-53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>
            <a:extLst>
              <a:ext uri="{FF2B5EF4-FFF2-40B4-BE49-F238E27FC236}">
                <a16:creationId xmlns:a16="http://schemas.microsoft.com/office/drawing/2014/main" id="{CB637859-1334-4D15-BF11-160E50AC17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641" y="2629142"/>
            <a:ext cx="1303133" cy="35817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4EC6A34-290E-4E7E-8757-C7530E9EDE69}"/>
                  </a:ext>
                </a:extLst>
              </p:cNvPr>
              <p:cNvSpPr txBox="1"/>
              <p:nvPr/>
            </p:nvSpPr>
            <p:spPr>
              <a:xfrm>
                <a:off x="2888538" y="2276303"/>
                <a:ext cx="2883341" cy="8198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𝐼</m:t>
                          </m:r>
                        </m:e>
                        <m:sub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𝑠𝑝</m:t>
                          </m:r>
                        </m:sub>
                      </m:sSub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  <m:rad>
                        <m:radPr>
                          <m:degHide m:val="on"/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𝑞</m:t>
                              </m:r>
                              <m:sSub>
                                <m:sSubPr>
                                  <m:ctrlPr>
                                    <a:rPr lang="en-US" sz="16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16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𝑎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𝑚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4EC6A34-290E-4E7E-8757-C7530E9ED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8538" y="2276303"/>
                <a:ext cx="2883341" cy="81984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Picture 22">
            <a:extLst>
              <a:ext uri="{FF2B5EF4-FFF2-40B4-BE49-F238E27FC236}">
                <a16:creationId xmlns:a16="http://schemas.microsoft.com/office/drawing/2014/main" id="{1AF01AC8-F482-475A-B892-00A256D052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641" y="1595554"/>
            <a:ext cx="1272650" cy="38103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03DBEC2-18E8-4AE7-969B-7E3927125567}"/>
                  </a:ext>
                </a:extLst>
              </p:cNvPr>
              <p:cNvSpPr txBox="1"/>
              <p:nvPr/>
            </p:nvSpPr>
            <p:spPr>
              <a:xfrm>
                <a:off x="2620539" y="1481744"/>
                <a:ext cx="2579593" cy="8198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𝑒</m:t>
                          </m:r>
                        </m:sub>
                      </m:sSub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𝑞</m:t>
                              </m:r>
                              <m:sSub>
                                <m:sSubPr>
                                  <m:ctrlPr>
                                    <a:rPr lang="en-US" sz="16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16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𝑎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𝑚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03DBEC2-18E8-4AE7-969B-7E39271255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0539" y="1481744"/>
                <a:ext cx="2579593" cy="81984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Picture 26">
            <a:extLst>
              <a:ext uri="{FF2B5EF4-FFF2-40B4-BE49-F238E27FC236}">
                <a16:creationId xmlns:a16="http://schemas.microsoft.com/office/drawing/2014/main" id="{13EDEA41-6938-4903-A653-A5E0B1B12D7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6641" y="3471989"/>
            <a:ext cx="2819644" cy="20575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A88A159-ED07-4B35-94E4-27BE12C6BB7C}"/>
                  </a:ext>
                </a:extLst>
              </p:cNvPr>
              <p:cNvSpPr txBox="1"/>
              <p:nvPr/>
            </p:nvSpPr>
            <p:spPr>
              <a:xfrm>
                <a:off x="4082371" y="3388643"/>
                <a:ext cx="706867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1600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𝑇</m:t>
                    </m:r>
                    <m:r>
                      <a:rPr lang="en-US" sz="1600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=</m:t>
                    </m:r>
                    <m:acc>
                      <m:accPr>
                        <m:chr m:val="̇"/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𝑚</m:t>
                        </m:r>
                      </m:e>
                    </m:acc>
                    <m:sSub>
                      <m:sSub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sz="16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endParaRPr lang="en-US" sz="1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A88A159-ED07-4B35-94E4-27BE12C6B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2371" y="3388643"/>
                <a:ext cx="7068670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" name="Picture 30">
            <a:extLst>
              <a:ext uri="{FF2B5EF4-FFF2-40B4-BE49-F238E27FC236}">
                <a16:creationId xmlns:a16="http://schemas.microsoft.com/office/drawing/2014/main" id="{09392709-1D71-4422-B24A-952ECF4CE43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9985" y="4107551"/>
            <a:ext cx="1196444" cy="32006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590BDEB-B59B-49C3-8853-78227D4E7ABA}"/>
                  </a:ext>
                </a:extLst>
              </p:cNvPr>
              <p:cNvSpPr txBox="1"/>
              <p:nvPr/>
            </p:nvSpPr>
            <p:spPr>
              <a:xfrm>
                <a:off x="3561603" y="3890702"/>
                <a:ext cx="2137892" cy="5949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𝐼</m:t>
                      </m:r>
                      <m:r>
                        <a:rPr lang="en-US" sz="160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𝑞</m:t>
                          </m:r>
                        </m:num>
                        <m:den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𝑚</m:t>
                          </m:r>
                        </m:den>
                      </m:f>
                      <m:acc>
                        <m:accPr>
                          <m:chr m:val="̇"/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accPr>
                        <m:e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𝑚</m:t>
                          </m:r>
                        </m:e>
                      </m:acc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𝑞</m:t>
                          </m:r>
                        </m:num>
                        <m:den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𝑚</m:t>
                          </m:r>
                        </m:den>
                      </m:f>
                      <m:f>
                        <m:f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𝑇</m:t>
                          </m:r>
                        </m:num>
                        <m:den>
                          <m:sSub>
                            <m:sSubPr>
                              <m:ctrlP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590BDEB-B59B-49C3-8853-78227D4E7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1603" y="3890702"/>
                <a:ext cx="2137892" cy="59490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" name="Picture 34">
            <a:extLst>
              <a:ext uri="{FF2B5EF4-FFF2-40B4-BE49-F238E27FC236}">
                <a16:creationId xmlns:a16="http://schemas.microsoft.com/office/drawing/2014/main" id="{7ED53743-F831-4297-855E-5C0F22E244E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9020" y="4613127"/>
            <a:ext cx="1280271" cy="35817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F1FE1AD-BB0E-4142-A633-7D564AFA631F}"/>
                  </a:ext>
                </a:extLst>
              </p:cNvPr>
              <p:cNvSpPr txBox="1"/>
              <p:nvPr/>
            </p:nvSpPr>
            <p:spPr>
              <a:xfrm>
                <a:off x="3751500" y="4654758"/>
                <a:ext cx="1761794" cy="4749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kern="10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𝐸𝑃</m:t>
                        </m:r>
                      </m:e>
                      <m:sub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𝑏</m:t>
                        </m:r>
                      </m:sub>
                    </m:sSub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𝐼</m:t>
                    </m:r>
                    <m:sSub>
                      <m:sSub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𝑉</m:t>
                        </m:r>
                      </m:e>
                      <m:sub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𝑎</m:t>
                        </m:r>
                      </m:sub>
                    </m:sSub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acc>
                          <m:accPr>
                            <m:chr m:val="̇"/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𝑚</m:t>
                            </m:r>
                          </m:e>
                        </m:acc>
                        <m:sSubSup>
                          <m:sSubSupPr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sub>
                          <m:sup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6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endParaRPr lang="en-US" sz="1600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F1FE1AD-BB0E-4142-A633-7D564AFA63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1500" y="4654758"/>
                <a:ext cx="1761794" cy="47493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" name="Picture 40">
            <a:extLst>
              <a:ext uri="{FF2B5EF4-FFF2-40B4-BE49-F238E27FC236}">
                <a16:creationId xmlns:a16="http://schemas.microsoft.com/office/drawing/2014/main" id="{438B1356-D304-4016-B104-01F4A8961F3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9985" y="5283187"/>
            <a:ext cx="1486029" cy="24386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66062E6-AAE0-4149-B932-A70886DFE6B5}"/>
                  </a:ext>
                </a:extLst>
              </p:cNvPr>
              <p:cNvSpPr txBox="1"/>
              <p:nvPr/>
            </p:nvSpPr>
            <p:spPr>
              <a:xfrm>
                <a:off x="-1113041" y="5627497"/>
                <a:ext cx="7730412" cy="9794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𝜂</m:t>
                      </m:r>
                      <m:r>
                        <a:rPr lang="en-US" sz="160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𝑏𝑒𝑎𝑚</m:t>
                          </m:r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𝑝𝑜𝑤𝑒𝑟</m:t>
                          </m:r>
                        </m:num>
                        <m:den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𝑡𝑜𝑡𝑎𝑙</m:t>
                          </m:r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𝑒𝑙𝑒𝑐𝑡𝑟𝑖𝑐</m:t>
                          </m:r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𝑝𝑜𝑤𝑒𝑟</m:t>
                          </m:r>
                        </m:den>
                      </m:f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𝐸𝑃</m:t>
                              </m:r>
                            </m:e>
                            <m:sub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∙∆</m:t>
                          </m:r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num>
                        <m:den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𝐸𝑃</m:t>
                          </m:r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∙∆</m:t>
                          </m:r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den>
                      </m:f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𝑚</m:t>
                              </m:r>
                              <m:sSubSup>
                                <m:sSubSupPr>
                                  <m:ctrlPr>
                                    <a:rPr lang="en-US" sz="16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16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𝑒</m:t>
                                  </m:r>
                                </m:sub>
                                <m:sup>
                                  <m:r>
                                    <a:rPr lang="en-US" sz="16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16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</m:num>
                        <m:den>
                          <m:f>
                            <m:fPr>
                              <m:ctrlP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𝑚</m:t>
                              </m:r>
                              <m:sSubSup>
                                <m:sSubSupPr>
                                  <m:ctrlPr>
                                    <a:rPr lang="en-US" sz="16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16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𝑒</m:t>
                                  </m:r>
                                </m:sub>
                                <m:sup>
                                  <m:r>
                                    <a:rPr lang="en-US" sz="16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16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66062E6-AAE0-4149-B932-A70886DFE6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13041" y="5627497"/>
                <a:ext cx="7730412" cy="9794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01CBCCAF-2B65-4455-B036-8BA468CB018A}"/>
              </a:ext>
            </a:extLst>
          </p:cNvPr>
          <p:cNvSpPr txBox="1"/>
          <p:nvPr/>
        </p:nvSpPr>
        <p:spPr>
          <a:xfrm>
            <a:off x="6096000" y="6013138"/>
            <a:ext cx="56326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energy lost per ion in the ionization chamber to ionize one atom - is about 100 eV, 1 </a:t>
            </a:r>
            <a:r>
              <a:rPr lang="en-US" sz="16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=1.60E-19 J.</a:t>
            </a:r>
            <a:endParaRPr lang="en-US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EE395F2-A299-41D8-B40F-627EA86ED625}"/>
                  </a:ext>
                </a:extLst>
              </p:cNvPr>
              <p:cNvSpPr txBox="1"/>
              <p:nvPr/>
            </p:nvSpPr>
            <p:spPr>
              <a:xfrm>
                <a:off x="6418915" y="4700800"/>
                <a:ext cx="1742492" cy="4967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i="1" kern="10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𝑇</m:t>
                        </m:r>
                      </m:num>
                      <m:den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𝐸𝑃</m:t>
                        </m:r>
                      </m:den>
                    </m:f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2</m:t>
                        </m:r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𝜂</m:t>
                        </m:r>
                      </m:num>
                      <m:den>
                        <m:sSub>
                          <m:sSubPr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𝑠𝑝</m:t>
                                </m:r>
                              </m:sub>
                            </m:sSub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6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endParaRPr lang="en-US" sz="1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EE395F2-A299-41D8-B40F-627EA86ED6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8915" y="4700800"/>
                <a:ext cx="1742492" cy="49673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Oval 21">
            <a:extLst>
              <a:ext uri="{FF2B5EF4-FFF2-40B4-BE49-F238E27FC236}">
                <a16:creationId xmlns:a16="http://schemas.microsoft.com/office/drawing/2014/main" id="{ECA2BD73-9475-4484-BFB4-579C9BACF7DC}"/>
              </a:ext>
            </a:extLst>
          </p:cNvPr>
          <p:cNvSpPr/>
          <p:nvPr/>
        </p:nvSpPr>
        <p:spPr>
          <a:xfrm>
            <a:off x="4630549" y="6117246"/>
            <a:ext cx="465934" cy="5581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Connector: Curved 2">
            <a:extLst>
              <a:ext uri="{FF2B5EF4-FFF2-40B4-BE49-F238E27FC236}">
                <a16:creationId xmlns:a16="http://schemas.microsoft.com/office/drawing/2014/main" id="{0EA659B3-FFE1-4A1A-86D5-AA2161F57C81}"/>
              </a:ext>
            </a:extLst>
          </p:cNvPr>
          <p:cNvCxnSpPr/>
          <p:nvPr/>
        </p:nvCxnSpPr>
        <p:spPr>
          <a:xfrm flipV="1">
            <a:off x="5118847" y="6258551"/>
            <a:ext cx="894758" cy="12438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4277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B438104-BB95-4C9F-BC36-F8BEBC414943}"/>
              </a:ext>
            </a:extLst>
          </p:cNvPr>
          <p:cNvSpPr txBox="1"/>
          <p:nvPr/>
        </p:nvSpPr>
        <p:spPr>
          <a:xfrm>
            <a:off x="2519860" y="42315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Electrothermal Rockets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396C63F-B367-4956-B675-BF6C8FEDB6D6}"/>
                  </a:ext>
                </a:extLst>
              </p:cNvPr>
              <p:cNvSpPr txBox="1"/>
              <p:nvPr/>
            </p:nvSpPr>
            <p:spPr>
              <a:xfrm>
                <a:off x="506506" y="1100145"/>
                <a:ext cx="11559988" cy="35149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1600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𝑇</m:t>
                    </m:r>
                    <m:r>
                      <a:rPr lang="en-US" sz="1600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=</m:t>
                    </m:r>
                    <m:acc>
                      <m:accPr>
                        <m:chr m:val="̇"/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𝑚</m:t>
                        </m:r>
                      </m:e>
                    </m:acc>
                    <m:sSub>
                      <m:sSub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𝑒𝑞</m:t>
                        </m:r>
                      </m:sub>
                    </m:sSub>
                  </m:oMath>
                </a14:m>
                <a:r>
                  <a:rPr lang="en-US" sz="16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𝑒𝑞</m:t>
                        </m:r>
                      </m:sub>
                    </m:sSub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𝑒</m:t>
                        </m:r>
                      </m:sub>
                    </m:sSub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+</m:t>
                    </m:r>
                    <m:d>
                      <m:d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</m:sub>
                            </m:sSub>
                          </m:num>
                          <m:den>
                            <m:acc>
                              <m:accPr>
                                <m:chr m:val="̇"/>
                                <m:ctrlP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𝑚</m:t>
                                </m:r>
                              </m:e>
                            </m:acc>
                          </m:den>
                        </m:f>
                      </m:e>
                    </m:d>
                    <m:sSub>
                      <m:sSub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𝐴</m:t>
                        </m:r>
                      </m:e>
                      <m:sub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sz="16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                                 P</a:t>
                </a:r>
                <a:r>
                  <a:rPr lang="en-US" sz="1600" kern="100" baseline="-25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a</a:t>
                </a:r>
                <a:r>
                  <a:rPr lang="en-US" sz="16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=0, </a:t>
                </a:r>
                <a:r>
                  <a:rPr lang="en-US" sz="1600" kern="100" dirty="0" err="1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P</a:t>
                </a:r>
                <a:r>
                  <a:rPr lang="en-US" sz="1600" kern="100" baseline="-25000" dirty="0" err="1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e</a:t>
                </a:r>
                <a:r>
                  <a:rPr lang="en-US" sz="1600" kern="100" dirty="0" err="1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A</a:t>
                </a:r>
                <a:r>
                  <a:rPr lang="en-US" sz="1600" kern="100" baseline="-25000" dirty="0" err="1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e</a:t>
                </a:r>
                <a:r>
                  <a:rPr lang="en-US" sz="16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usually small</a:t>
                </a:r>
                <a:endParaRPr lang="en-US" sz="1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η</m:t>
                    </m:r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2</m:t>
                            </m:r>
                          </m:den>
                        </m:f>
                        <m:acc>
                          <m:accPr>
                            <m:chr m:val="̇"/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𝑚</m:t>
                            </m:r>
                          </m:e>
                        </m:acc>
                        <m:sSubSup>
                          <m:sSubSupPr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sub>
                          <m:sup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𝐸𝑃</m:t>
                        </m:r>
                      </m:den>
                    </m:f>
                  </m:oMath>
                </a14:m>
                <a:r>
                  <a:rPr lang="en-US" sz="16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                      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η</m:t>
                    </m:r>
                    <m:r>
                      <a:rPr lang="en-US" sz="16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sz="16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η</m:t>
                        </m:r>
                      </m:e>
                      <m:sub>
                        <m:r>
                          <a:rPr lang="en-US" sz="16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  <m:sSub>
                      <m:sSubPr>
                        <m:ctrlPr>
                          <a:rPr lang="en-US" sz="16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η</m:t>
                        </m:r>
                      </m:e>
                      <m:sub>
                        <m:r>
                          <a:rPr lang="en-US" sz="16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  <m:sSub>
                      <m:sSubPr>
                        <m:ctrlPr>
                          <a:rPr lang="en-US" sz="16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η</m:t>
                        </m:r>
                      </m:e>
                      <m:sub>
                        <m:r>
                          <a:rPr lang="en-US" sz="16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sz="1600" kern="100" dirty="0"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endParaRPr lang="en-US" sz="1600" kern="100" dirty="0"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endParaRPr lang="en-US" sz="1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𝑚</m:t>
                        </m:r>
                      </m:e>
                    </m:acc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𝐴</m:t>
                        </m:r>
                      </m:e>
                      <m:sup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𝛾</m:t>
                            </m:r>
                          </m:num>
                          <m:den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𝑅</m:t>
                            </m:r>
                            <m:sSub>
                              <m:sSubPr>
                                <m:ctrlP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02</m:t>
                                </m:r>
                              </m:sub>
                            </m:sSub>
                          </m:den>
                        </m:f>
                      </m:e>
                    </m:rad>
                    <m:sSup>
                      <m:sSup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𝛾</m:t>
                                </m:r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+1</m:t>
                                </m:r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𝛾</m:t>
                            </m:r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+1</m:t>
                            </m:r>
                          </m:num>
                          <m:den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2</m:t>
                            </m:r>
                            <m:d>
                              <m:dPr>
                                <m:ctrlP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𝛾</m:t>
                                </m:r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−1</m:t>
                                </m:r>
                              </m:e>
                            </m:d>
                          </m:den>
                        </m:f>
                      </m:sup>
                    </m:sSup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0</m:t>
                            </m:r>
                          </m:sub>
                        </m:sSub>
                        <m:sSup>
                          <m:sSupPr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∗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𝐶</m:t>
                            </m:r>
                          </m:e>
                          <m:sup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∗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16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                  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en-US" sz="16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𝑒</m:t>
                        </m:r>
                      </m:sub>
                    </m:sSub>
                    <m:r>
                      <a:rPr lang="en-US" sz="16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=</m:t>
                    </m:r>
                    <m:sSup>
                      <m:sSupPr>
                        <m:ctrlPr>
                          <a:rPr lang="en-US" sz="16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600" i="1" kern="1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600" i="1" kern="10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i="1" kern="10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  <m:r>
                                  <a:rPr lang="en-US" sz="1600" i="1" kern="10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𝛾</m:t>
                                </m:r>
                                <m:r>
                                  <a:rPr lang="en-US" sz="1600" i="1" kern="10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𝑅</m:t>
                                </m:r>
                                <m:sSub>
                                  <m:sSubPr>
                                    <m:ctrlPr>
                                      <a:rPr lang="en-US" sz="1600" i="1" kern="10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kern="10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Arial" panose="020B0604020202020204" pitchFamily="34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1600" i="1" kern="10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Arial" panose="020B0604020202020204" pitchFamily="34" charset="0"/>
                                      </a:rPr>
                                      <m:t>02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1600" i="1" kern="10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𝛾</m:t>
                                </m:r>
                                <m:r>
                                  <a:rPr lang="en-US" sz="1600" i="1" kern="10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−1</m:t>
                                </m:r>
                              </m:den>
                            </m:f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1600" i="1" kern="10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kern="10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1−</m:t>
                                </m:r>
                                <m:sSup>
                                  <m:sSupPr>
                                    <m:ctrlPr>
                                      <a:rPr lang="en-US" sz="1600" i="1" kern="10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Arial" panose="020B0604020202020204" pitchFamily="34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600" i="1" kern="10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1600" i="1" kern="100"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Arial" panose="020B0604020202020204" pitchFamily="34" charset="0"/>
                                              </a:rPr>
                                            </m:ctrlPr>
                                          </m:fPr>
                                          <m:num>
                                            <m:sSub>
                                              <m:sSubPr>
                                                <m:ctrlPr>
                                                  <a:rPr lang="en-US" sz="1600" i="1" kern="100"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600" i="1" kern="100"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Arial" panose="020B0604020202020204" pitchFamily="34" charset="0"/>
                                                  </a:rPr>
                                                  <m:t>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600" i="1" kern="100"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Arial" panose="020B0604020202020204" pitchFamily="34" charset="0"/>
                                                  </a:rPr>
                                                  <m:t>𝑒</m:t>
                                                </m:r>
                                              </m:sub>
                                            </m:sSub>
                                          </m:num>
                                          <m:den>
                                            <m:sSub>
                                              <m:sSubPr>
                                                <m:ctrlPr>
                                                  <a:rPr lang="en-US" sz="1600" i="1" kern="100"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600" i="1" kern="100"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Arial" panose="020B0604020202020204" pitchFamily="34" charset="0"/>
                                                  </a:rPr>
                                                  <m:t>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600" i="1" kern="100"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Arial" panose="020B0604020202020204" pitchFamily="34" charset="0"/>
                                                  </a:rPr>
                                                  <m:t>0</m:t>
                                                </m:r>
                                              </m:sub>
                                            </m:sSub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f>
                                      <m:fPr>
                                        <m:ctrlPr>
                                          <a:rPr lang="en-US" sz="1600" i="1" kern="10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600" i="1" kern="10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Arial" panose="020B0604020202020204" pitchFamily="34" charset="0"/>
                                          </a:rPr>
                                          <m:t>𝛾</m:t>
                                        </m:r>
                                        <m:r>
                                          <a:rPr lang="en-US" sz="1600" i="1" kern="10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Arial" panose="020B0604020202020204" pitchFamily="34" charset="0"/>
                                          </a:rPr>
                                          <m:t>−1</m:t>
                                        </m:r>
                                      </m:num>
                                      <m:den>
                                        <m:r>
                                          <a:rPr lang="en-US" sz="1600" i="1" kern="10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Arial" panose="020B0604020202020204" pitchFamily="34" charset="0"/>
                                          </a:rPr>
                                          <m:t>𝛾</m:t>
                                        </m:r>
                                      </m:den>
                                    </m:f>
                                  </m:sup>
                                </m:sSup>
                              </m:e>
                            </m:d>
                          </m:e>
                        </m:d>
                      </m:e>
                      <m:sup>
                        <m:r>
                          <a:rPr lang="en-US" sz="16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1/2</m:t>
                        </m:r>
                      </m:sup>
                    </m:sSup>
                  </m:oMath>
                </a14:m>
                <a:endParaRPr lang="en-US" sz="1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 </a:t>
                </a:r>
                <a:endParaRPr lang="en-US" sz="1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prime variables are with heat loss:</a:t>
                </a:r>
                <a:endParaRPr lang="en-US" sz="1600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 </a:t>
                </a:r>
                <a:endParaRPr lang="en-US" sz="1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𝑇</m:t>
                          </m:r>
                        </m:e>
                        <m:sub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02</m:t>
                          </m:r>
                        </m:sub>
                        <m:sup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bSup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𝑇</m:t>
                          </m:r>
                        </m:e>
                        <m:sub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01</m:t>
                          </m:r>
                        </m:sub>
                      </m:sSub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𝑝</m:t>
                              </m:r>
                            </m:sub>
                          </m:sSub>
                        </m:den>
                      </m:f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𝑇</m:t>
                          </m:r>
                        </m:e>
                        <m:sub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01</m:t>
                          </m:r>
                        </m:sub>
                      </m:sSub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𝑄</m:t>
                          </m:r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𝑑𝑞</m:t>
                              </m:r>
                            </m:num>
                            <m:den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sz="16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16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02</m:t>
                                  </m:r>
                                </m:sub>
                              </m:sSub>
                            </m:den>
                          </m:f>
                          <m:sSub>
                            <m:sSubPr>
                              <m:ctrlP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02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𝑝</m:t>
                              </m:r>
                            </m:sub>
                          </m:sSub>
                        </m:den>
                      </m:f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≈</m:t>
                      </m:r>
                      <m:f>
                        <m:f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𝑄</m:t>
                          </m:r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𝑑𝑞</m:t>
                              </m:r>
                            </m:num>
                            <m:den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sz="16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16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02</m:t>
                                  </m:r>
                                </m:sub>
                              </m:sSub>
                            </m:den>
                          </m:f>
                          <m:sSub>
                            <m:sSubPr>
                              <m:ctrlP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02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𝑝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 </a:t>
                </a:r>
                <a:endParaRPr lang="en-US" sz="1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396C63F-B367-4956-B675-BF6C8FEDB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506" y="1100145"/>
                <a:ext cx="11559988" cy="3514937"/>
              </a:xfrm>
              <a:prstGeom prst="rect">
                <a:avLst/>
              </a:prstGeom>
              <a:blipFill>
                <a:blip r:embed="rId2"/>
                <a:stretch>
                  <a:fillRect l="-2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755F941-3EE3-42CA-A210-F72A0AB9BA3B}"/>
              </a:ext>
            </a:extLst>
          </p:cNvPr>
          <p:cNvSpPr txBox="1"/>
          <p:nvPr/>
        </p:nvSpPr>
        <p:spPr>
          <a:xfrm>
            <a:off x="2376426" y="4522277"/>
            <a:ext cx="685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Electro Magnetic Thrusters</a:t>
            </a:r>
            <a:endParaRPr lang="en-US" sz="1400" kern="1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6A1AA59-93D0-4E4F-8142-DD9692B51D44}"/>
                  </a:ext>
                </a:extLst>
              </p:cNvPr>
              <p:cNvSpPr txBox="1"/>
              <p:nvPr/>
            </p:nvSpPr>
            <p:spPr>
              <a:xfrm>
                <a:off x="506506" y="5011511"/>
                <a:ext cx="6858000" cy="3684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 body force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𝐹</m:t>
                        </m:r>
                      </m:e>
                    </m:acc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𝑗</m:t>
                        </m:r>
                      </m:e>
                    </m:acc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sz="16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6A1AA59-93D0-4E4F-8142-DD9692B51D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506" y="5011511"/>
                <a:ext cx="6858000" cy="368499"/>
              </a:xfrm>
              <a:prstGeom prst="rect">
                <a:avLst/>
              </a:prstGeom>
              <a:blipFill>
                <a:blip r:embed="rId3"/>
                <a:stretch>
                  <a:fillRect l="-444" t="-13115" b="-196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ED91454-7818-49A2-B7F8-D4C93CCB0A49}"/>
                  </a:ext>
                </a:extLst>
              </p:cNvPr>
              <p:cNvSpPr txBox="1"/>
              <p:nvPr/>
            </p:nvSpPr>
            <p:spPr>
              <a:xfrm>
                <a:off x="506506" y="5563731"/>
                <a:ext cx="6858000" cy="3882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R="0" lvl="0" algn="just"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kern="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 Lorentz force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𝐹</m:t>
                        </m:r>
                      </m:e>
                    </m:acc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𝜎</m:t>
                    </m:r>
                    <m:d>
                      <m:d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𝐸</m:t>
                            </m:r>
                          </m:e>
                        </m:acc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𝑣</m:t>
                            </m:r>
                          </m:e>
                        </m:acc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𝐵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16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1600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ED91454-7818-49A2-B7F8-D4C93CCB0A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506" y="5563731"/>
                <a:ext cx="6858000" cy="388248"/>
              </a:xfrm>
              <a:prstGeom prst="rect">
                <a:avLst/>
              </a:prstGeom>
              <a:blipFill>
                <a:blip r:embed="rId4"/>
                <a:stretch>
                  <a:fillRect l="-444" t="-12698" b="-15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2705254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418</TotalTime>
  <Words>259</Words>
  <Application>Microsoft Office PowerPoint</Application>
  <PresentationFormat>Widescreen</PresentationFormat>
  <Paragraphs>52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Calibri</vt:lpstr>
      <vt:lpstr>Cambria Math</vt:lpstr>
      <vt:lpstr>Corbel</vt:lpstr>
      <vt:lpstr>Times New Roman</vt:lpstr>
      <vt:lpstr>Basis</vt:lpstr>
      <vt:lpstr>Section4: electrical ROCKETS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Hamid</dc:creator>
  <cp:lastModifiedBy>Hamid</cp:lastModifiedBy>
  <cp:revision>44</cp:revision>
  <dcterms:created xsi:type="dcterms:W3CDTF">2024-10-05T20:41:39Z</dcterms:created>
  <dcterms:modified xsi:type="dcterms:W3CDTF">2024-11-23T08:24:08Z</dcterms:modified>
</cp:coreProperties>
</file>