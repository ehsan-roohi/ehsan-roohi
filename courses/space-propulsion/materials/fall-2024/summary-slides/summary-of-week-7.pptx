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8" r:id="rId3"/>
    <p:sldId id="260" r:id="rId4"/>
    <p:sldId id="258" r:id="rId5"/>
    <p:sldId id="269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8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421-45CE-4249-8D36-3BC6C15BF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7: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 propellant rocket engines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1025-24F6-4F5E-ABE2-880F1CA22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Ehsan Roohi</a:t>
            </a:r>
          </a:p>
        </p:txBody>
      </p:sp>
    </p:spTree>
    <p:extLst>
      <p:ext uri="{BB962C8B-B14F-4D97-AF65-F5344CB8AC3E}">
        <p14:creationId xmlns:p14="http://schemas.microsoft.com/office/powerpoint/2010/main" val="83578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FDA8-9903-40EB-91E4-8C0A32666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1" y="2595715"/>
            <a:ext cx="9499408" cy="381491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Desirable propellant Properties: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Freezing Point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Specific Gravity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Transfer Properties: High specific heat, high thermal conductivity, and high boiling or decomposition temperature for propellants used for cooling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Pumping Properties. A low vapor pressure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variation: The temperature variation of the physical properties</a:t>
            </a:r>
          </a:p>
          <a:p>
            <a:pPr marL="4572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of the liquid propellant should be small.(Similar for fuel and oxidizer)</a:t>
            </a:r>
          </a:p>
          <a:p>
            <a:pPr marL="388620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Readily ignite.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186DD-3341-4F26-BDD2-3BC69D374501}"/>
              </a:ext>
            </a:extLst>
          </p:cNvPr>
          <p:cNvSpPr txBox="1"/>
          <p:nvPr/>
        </p:nvSpPr>
        <p:spPr>
          <a:xfrm>
            <a:off x="600635" y="904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propellants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2F4086B-827F-4AC2-81BF-F848AF6A3DF7}"/>
              </a:ext>
            </a:extLst>
          </p:cNvPr>
          <p:cNvSpPr/>
          <p:nvPr/>
        </p:nvSpPr>
        <p:spPr>
          <a:xfrm>
            <a:off x="2805985" y="809081"/>
            <a:ext cx="292249" cy="615877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FC340-EA0D-40BD-8CFA-22D60A2A87C6}"/>
              </a:ext>
            </a:extLst>
          </p:cNvPr>
          <p:cNvSpPr txBox="1"/>
          <p:nvPr/>
        </p:nvSpPr>
        <p:spPr>
          <a:xfrm>
            <a:off x="3017552" y="622131"/>
            <a:ext cx="2331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Monopropellants  (N2H4)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30948-CBC9-4BDC-8814-B5EF5C169F5E}"/>
              </a:ext>
            </a:extLst>
          </p:cNvPr>
          <p:cNvSpPr txBox="1"/>
          <p:nvPr/>
        </p:nvSpPr>
        <p:spPr>
          <a:xfrm>
            <a:off x="3017552" y="1273699"/>
            <a:ext cx="2023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Bipropellant  (O2-H2)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A5598-0DAE-E0CF-94F3-81164DDC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22" y="1774117"/>
            <a:ext cx="7137379" cy="2070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5F052-F7E4-86CF-C067-1A8245CF41B3}"/>
              </a:ext>
            </a:extLst>
          </p:cNvPr>
          <p:cNvSpPr txBox="1"/>
          <p:nvPr/>
        </p:nvSpPr>
        <p:spPr>
          <a:xfrm>
            <a:off x="9075175" y="3716282"/>
            <a:ext cx="1868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Falcon -</a:t>
            </a:r>
            <a:r>
              <a:rPr lang="en-US" altLang="zh-CN" dirty="0"/>
              <a:t> </a:t>
            </a:r>
            <a:r>
              <a:rPr lang="en-US" altLang="zh-CN" b="1" dirty="0"/>
              <a:t>SpaceX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63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59B06-4721-4DAF-8AE6-1513DAD99C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11" t="23271" r="48333" b="49567"/>
          <a:stretch/>
        </p:blipFill>
        <p:spPr>
          <a:xfrm>
            <a:off x="2679018" y="1304100"/>
            <a:ext cx="3110752" cy="787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3CDB1-97CF-44A7-8E46-E5D401DBB437}"/>
              </a:ext>
            </a:extLst>
          </p:cNvPr>
          <p:cNvSpPr txBox="1"/>
          <p:nvPr/>
        </p:nvSpPr>
        <p:spPr>
          <a:xfrm>
            <a:off x="428877" y="429346"/>
            <a:ext cx="761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ratio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the oxidizer mass flow rate and the fuel mass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4C151-B05C-4D42-9F45-8B1F0DF0FD84}"/>
              </a:ext>
            </a:extLst>
          </p:cNvPr>
          <p:cNvSpPr txBox="1"/>
          <p:nvPr/>
        </p:nvSpPr>
        <p:spPr>
          <a:xfrm>
            <a:off x="428877" y="944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 flow rate (k mole/s)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FFC6E-1D22-4DBA-9465-884FB4CFF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35" t="69518" r="34538" b="-72"/>
          <a:stretch/>
        </p:blipFill>
        <p:spPr>
          <a:xfrm>
            <a:off x="7603202" y="1223416"/>
            <a:ext cx="4168588" cy="8964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93353E-72BC-4FB9-8164-DBF66C303A0D}"/>
              </a:ext>
            </a:extLst>
          </p:cNvPr>
          <p:cNvSpPr txBox="1"/>
          <p:nvPr/>
        </p:nvSpPr>
        <p:spPr>
          <a:xfrm>
            <a:off x="515468" y="2283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bulk density: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C5FEE71-6091-47F4-B20A-5C3F25EDE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26" t="10164" r="44068" b="69623"/>
          <a:stretch/>
        </p:blipFill>
        <p:spPr>
          <a:xfrm>
            <a:off x="2889822" y="2328581"/>
            <a:ext cx="2802765" cy="8964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BBF8B0-B865-4225-8B3A-92ABDD183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413" y="2242925"/>
            <a:ext cx="1966130" cy="8992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A359D3-456F-4338-A375-3CDADFB71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606" y="508303"/>
            <a:ext cx="1729890" cy="701101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6DD935F-9203-4FBE-8DF0-18202DD7745B}"/>
              </a:ext>
            </a:extLst>
          </p:cNvPr>
          <p:cNvSpPr/>
          <p:nvPr/>
        </p:nvSpPr>
        <p:spPr>
          <a:xfrm>
            <a:off x="6096000" y="1523735"/>
            <a:ext cx="1111623" cy="2958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38D6A8A-EDBB-479F-A8D9-633C32B4A1CC}"/>
              </a:ext>
            </a:extLst>
          </p:cNvPr>
          <p:cNvSpPr/>
          <p:nvPr/>
        </p:nvSpPr>
        <p:spPr>
          <a:xfrm>
            <a:off x="6055656" y="2544627"/>
            <a:ext cx="1111623" cy="2958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0810C5-37B1-44E7-B6F3-356CEE28B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5575" y="3896795"/>
            <a:ext cx="3983721" cy="19887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26C404-0E53-4000-BA61-2BD165DC904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407" t="3508" r="53897" b="47580"/>
          <a:stretch/>
        </p:blipFill>
        <p:spPr>
          <a:xfrm>
            <a:off x="784394" y="5384034"/>
            <a:ext cx="1530035" cy="5015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83CF81-EBEB-4E5F-8B55-36A2086295BC}"/>
              </a:ext>
            </a:extLst>
          </p:cNvPr>
          <p:cNvSpPr txBox="1"/>
          <p:nvPr/>
        </p:nvSpPr>
        <p:spPr>
          <a:xfrm>
            <a:off x="520463" y="3441706"/>
            <a:ext cx="431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 propellant rocket engine thrust: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3AF09D-8553-49A6-ADD5-96180D3DF0BA}"/>
              </a:ext>
            </a:extLst>
          </p:cNvPr>
          <p:cNvSpPr txBox="1"/>
          <p:nvPr/>
        </p:nvSpPr>
        <p:spPr>
          <a:xfrm>
            <a:off x="428878" y="4179765"/>
            <a:ext cx="7174324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5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chamber requires propellant feed at high pressure.</a:t>
            </a:r>
          </a:p>
          <a:p>
            <a:pPr algn="just" rtl="0">
              <a:spcBef>
                <a:spcPts val="0"/>
              </a:spcBef>
              <a:spcAft>
                <a:spcPts val="5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Unlike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SRM, there is no  increase in P0 in the combustion chamber.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72D768-259D-431E-A77A-5F26436B5F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7580" r="48249" b="3508"/>
          <a:stretch/>
        </p:blipFill>
        <p:spPr>
          <a:xfrm>
            <a:off x="471111" y="4882499"/>
            <a:ext cx="2966092" cy="501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FBE4C2-FC99-423A-8A34-96B677C992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976" t="3509" r="21930" b="47579"/>
          <a:stretch/>
        </p:blipFill>
        <p:spPr>
          <a:xfrm>
            <a:off x="3065026" y="5493628"/>
            <a:ext cx="1552882" cy="5015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6BBD01-8EBC-4DA2-8C10-FD2FBCE044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0440" t="-5430" b="47580"/>
          <a:stretch/>
        </p:blipFill>
        <p:spPr>
          <a:xfrm>
            <a:off x="5692587" y="5393727"/>
            <a:ext cx="1121058" cy="5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4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F14C-9DCC-4676-ADA9-EDB5C8A4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38061"/>
            <a:ext cx="11824447" cy="13563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variation of specific impulse with fuel-oxidant ratio for complete combustion: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9233-347E-48EB-A1AD-1594DDF7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71" y="1501588"/>
            <a:ext cx="9872871" cy="40386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excess hydrogen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D61E4-6E0B-4339-8DD3-E77AC874B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77" t="57257" r="23404" b="5546"/>
          <a:stretch/>
        </p:blipFill>
        <p:spPr>
          <a:xfrm>
            <a:off x="588965" y="2217186"/>
            <a:ext cx="3612777" cy="538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C4DF2A-DCA2-4236-98D9-7942710346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38" t="27129" r="30285" b="57854"/>
          <a:stretch/>
        </p:blipFill>
        <p:spPr>
          <a:xfrm>
            <a:off x="4000385" y="1213255"/>
            <a:ext cx="2375648" cy="215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5">
                <a:extLst>
                  <a:ext uri="{FF2B5EF4-FFF2-40B4-BE49-F238E27FC236}">
                    <a16:creationId xmlns:a16="http://schemas.microsoft.com/office/drawing/2014/main" id="{90DCF899-AD35-48E4-A050-445B5CB574D0}"/>
                  </a:ext>
                </a:extLst>
              </p:cNvPr>
              <p:cNvSpPr txBox="1"/>
              <p:nvPr/>
            </p:nvSpPr>
            <p:spPr>
              <a:xfrm>
                <a:off x="-908033" y="2842709"/>
                <a:ext cx="5109775" cy="63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𝜸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𝜸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" name="TextBox 35">
                <a:extLst>
                  <a:ext uri="{FF2B5EF4-FFF2-40B4-BE49-F238E27FC236}">
                    <a16:creationId xmlns:a16="http://schemas.microsoft.com/office/drawing/2014/main" id="{90DCF899-AD35-48E4-A050-445B5CB57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8033" y="2842709"/>
                <a:ext cx="5109775" cy="637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B667447-E5EC-4C2E-8DDE-E07EDB9D0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145" y="3781156"/>
            <a:ext cx="3360711" cy="6553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215BA2-D39A-49B1-95BA-5A6B125B92AB}"/>
              </a:ext>
            </a:extLst>
          </p:cNvPr>
          <p:cNvSpPr txBox="1"/>
          <p:nvPr/>
        </p:nvSpPr>
        <p:spPr>
          <a:xfrm>
            <a:off x="496589" y="3520888"/>
            <a:ext cx="3405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from Nozzle Contraction ratio: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217C8-E875-4EC4-9EBA-FA44118664B7}"/>
              </a:ext>
            </a:extLst>
          </p:cNvPr>
          <p:cNvSpPr txBox="1"/>
          <p:nvPr/>
        </p:nvSpPr>
        <p:spPr>
          <a:xfrm>
            <a:off x="610045" y="3988125"/>
            <a:ext cx="6185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Combustion pressure loss:</a:t>
            </a:r>
            <a:endParaRPr lang="en-US" b="1" dirty="0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B88E824A-EE30-4924-BE2D-F1D2723CE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256" y="4760384"/>
            <a:ext cx="3025402" cy="594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4AE887-9ED2-432F-B896-DDDE782E6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955" y="5483479"/>
            <a:ext cx="1455546" cy="594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97E24B-4608-4E9F-A814-F0F6AE9452B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9978"/>
          <a:stretch/>
        </p:blipFill>
        <p:spPr>
          <a:xfrm>
            <a:off x="7442787" y="4689390"/>
            <a:ext cx="2490553" cy="479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07E390-D19C-4785-8CA3-D83AD9E2EE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592" y="5806200"/>
            <a:ext cx="1323436" cy="6858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D252D2-150C-49B8-BAA6-BA3BAEEF08A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821" t="-3696"/>
          <a:stretch/>
        </p:blipFill>
        <p:spPr>
          <a:xfrm>
            <a:off x="6601291" y="5023566"/>
            <a:ext cx="853419" cy="371408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29369A45-B493-49CE-94EF-4321AB5A74C3}"/>
              </a:ext>
            </a:extLst>
          </p:cNvPr>
          <p:cNvSpPr/>
          <p:nvPr/>
        </p:nvSpPr>
        <p:spPr>
          <a:xfrm>
            <a:off x="6232046" y="5435152"/>
            <a:ext cx="1455546" cy="2193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E89E9-FCF6-483A-974F-56661CF00B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6455" y="858692"/>
            <a:ext cx="4250674" cy="3754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3A936A-4945-4BEA-DCF1-6EA8B7B70E3F}"/>
              </a:ext>
            </a:extLst>
          </p:cNvPr>
          <p:cNvSpPr txBox="1"/>
          <p:nvPr/>
        </p:nvSpPr>
        <p:spPr>
          <a:xfrm>
            <a:off x="4351031" y="156456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M_bar</a:t>
            </a:r>
            <a:r>
              <a:rPr lang="en-US" altLang="zh-CN" dirty="0"/>
              <a:t>=18+2n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CE556-B600-1D3C-884C-EAD5843D18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504" y="4464714"/>
            <a:ext cx="3517188" cy="1755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045F3D-EEC6-7CB5-A2EC-8817E4EBFDA4}"/>
              </a:ext>
            </a:extLst>
          </p:cNvPr>
          <p:cNvSpPr txBox="1"/>
          <p:nvPr/>
        </p:nvSpPr>
        <p:spPr>
          <a:xfrm>
            <a:off x="5721684" y="2342107"/>
            <a:ext cx="2434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r=8 Stoichiometric ratio</a:t>
            </a:r>
          </a:p>
          <a:p>
            <a:r>
              <a:rPr lang="en-US" altLang="zh-CN" dirty="0"/>
              <a:t>It gives the higher I</a:t>
            </a:r>
            <a:r>
              <a:rPr lang="en-US" altLang="zh-CN" baseline="-25000" dirty="0"/>
              <a:t>sp</a:t>
            </a: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97962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7138-7574-4AE2-9C5F-7C4A6E3B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0" y="0"/>
            <a:ext cx="9875520" cy="13563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LPRE propellant feed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67016-3D43-4F7F-B6E3-A21A89AD8C1C}"/>
              </a:ext>
            </a:extLst>
          </p:cNvPr>
          <p:cNvSpPr txBox="1"/>
          <p:nvPr/>
        </p:nvSpPr>
        <p:spPr>
          <a:xfrm>
            <a:off x="373729" y="9870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pressure feed system: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E6C08-5D48-436A-B2F7-B5832BDC8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429" y="864883"/>
            <a:ext cx="2347163" cy="48772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1F279A-5671-49AC-B307-641BEC9657F7}"/>
              </a:ext>
            </a:extLst>
          </p:cNvPr>
          <p:cNvSpPr txBox="1"/>
          <p:nvPr/>
        </p:nvSpPr>
        <p:spPr>
          <a:xfrm>
            <a:off x="231887" y="1356360"/>
            <a:ext cx="7790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of energy (gas energy after and before propellant expulsion)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 process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gas,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negligibly small initial mass of gas in the piping and the propellant tank.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43B8C-76A2-43AD-97DD-12E8894AAC01}"/>
              </a:ext>
            </a:extLst>
          </p:cNvPr>
          <p:cNvSpPr txBox="1"/>
          <p:nvPr/>
        </p:nvSpPr>
        <p:spPr>
          <a:xfrm>
            <a:off x="3460809" y="4334621"/>
            <a:ext cx="253451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high pressure gas energy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DADB74-418E-4E36-A86A-27DE8E9D447D}"/>
              </a:ext>
            </a:extLst>
          </p:cNvPr>
          <p:cNvCxnSpPr>
            <a:cxnSpLocks/>
          </p:cNvCxnSpPr>
          <p:nvPr/>
        </p:nvCxnSpPr>
        <p:spPr>
          <a:xfrm>
            <a:off x="4393043" y="3978598"/>
            <a:ext cx="0" cy="297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4B10E49-107F-445B-B047-D0D23144ADD1}"/>
              </a:ext>
            </a:extLst>
          </p:cNvPr>
          <p:cNvSpPr/>
          <p:nvPr/>
        </p:nvSpPr>
        <p:spPr>
          <a:xfrm>
            <a:off x="6043120" y="3475573"/>
            <a:ext cx="780678" cy="4953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56C81E-E902-4D6F-BEF8-6B2EBC977758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6433459" y="3970916"/>
            <a:ext cx="237600" cy="314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9253132-3CDA-4DAE-87B3-C9E1A66C29DA}"/>
              </a:ext>
            </a:extLst>
          </p:cNvPr>
          <p:cNvSpPr txBox="1"/>
          <p:nvPr/>
        </p:nvSpPr>
        <p:spPr>
          <a:xfrm>
            <a:off x="669003" y="4122155"/>
            <a:ext cx="248322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high pressure gas energy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C4B725-27E3-4288-AF04-B321A54D8E70}"/>
              </a:ext>
            </a:extLst>
          </p:cNvPr>
          <p:cNvSpPr txBox="1"/>
          <p:nvPr/>
        </p:nvSpPr>
        <p:spPr>
          <a:xfrm>
            <a:off x="6304446" y="4322179"/>
            <a:ext cx="268453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by high pressure gas energy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8C4123-FC98-442E-8204-E7192C3F1B04}"/>
              </a:ext>
            </a:extLst>
          </p:cNvPr>
          <p:cNvCxnSpPr/>
          <p:nvPr/>
        </p:nvCxnSpPr>
        <p:spPr>
          <a:xfrm>
            <a:off x="1846845" y="3939275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FCBD976-677D-41C1-A00A-240105602936}"/>
              </a:ext>
            </a:extLst>
          </p:cNvPr>
          <p:cNvSpPr/>
          <p:nvPr/>
        </p:nvSpPr>
        <p:spPr>
          <a:xfrm>
            <a:off x="521012" y="5291696"/>
            <a:ext cx="1021976" cy="3077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5A75F79-6BE2-4499-AFD4-D05DB5E5D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2" y="4822092"/>
            <a:ext cx="826961" cy="4357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3D08359-FCA9-4668-8786-21EC80F8FFFC}"/>
              </a:ext>
            </a:extLst>
          </p:cNvPr>
          <p:cNvSpPr txBox="1"/>
          <p:nvPr/>
        </p:nvSpPr>
        <p:spPr>
          <a:xfrm>
            <a:off x="473113" y="5655242"/>
            <a:ext cx="89925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gas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DC7E205-8431-47E6-875B-EA403F3AB8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801" t="50867" r="40480" b="8474"/>
          <a:stretch/>
        </p:blipFill>
        <p:spPr>
          <a:xfrm>
            <a:off x="1919411" y="4844289"/>
            <a:ext cx="2482428" cy="10475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D7A6585-FAC6-47E6-8933-B3DB4A29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5" y="3385899"/>
            <a:ext cx="6591871" cy="6096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6DA4D184-AAFE-4B3C-A55B-5C0E86C18E25}"/>
              </a:ext>
            </a:extLst>
          </p:cNvPr>
          <p:cNvSpPr/>
          <p:nvPr/>
        </p:nvSpPr>
        <p:spPr>
          <a:xfrm>
            <a:off x="595232" y="3330130"/>
            <a:ext cx="2895600" cy="6096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9C8C1CA-D98E-484A-A13B-F730E8492F2F}"/>
              </a:ext>
            </a:extLst>
          </p:cNvPr>
          <p:cNvSpPr/>
          <p:nvPr/>
        </p:nvSpPr>
        <p:spPr>
          <a:xfrm>
            <a:off x="3684833" y="3437888"/>
            <a:ext cx="1434013" cy="4953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7DC1BC-631A-4B57-94E2-2B2C7716B049}"/>
              </a:ext>
            </a:extLst>
          </p:cNvPr>
          <p:cNvSpPr/>
          <p:nvPr/>
        </p:nvSpPr>
        <p:spPr>
          <a:xfrm>
            <a:off x="5995323" y="3508989"/>
            <a:ext cx="1107519" cy="4953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B42803D-68F2-4553-9FCE-A6E6F6272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782" y="5072564"/>
            <a:ext cx="2537680" cy="807790"/>
          </a:xfrm>
          <a:prstGeom prst="rect">
            <a:avLst/>
          </a:prstGeom>
        </p:spPr>
      </p:pic>
      <p:sp>
        <p:nvSpPr>
          <p:cNvPr id="44" name="Arrow: Right 43">
            <a:extLst>
              <a:ext uri="{FF2B5EF4-FFF2-40B4-BE49-F238E27FC236}">
                <a16:creationId xmlns:a16="http://schemas.microsoft.com/office/drawing/2014/main" id="{BE51207C-0F3E-4710-AACE-2BAB976374D1}"/>
              </a:ext>
            </a:extLst>
          </p:cNvPr>
          <p:cNvSpPr/>
          <p:nvPr/>
        </p:nvSpPr>
        <p:spPr>
          <a:xfrm>
            <a:off x="4542740" y="5266000"/>
            <a:ext cx="1021976" cy="3077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8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ACA356-202E-4CC6-8B28-62241B263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3" t="12152" r="35056" b="75528"/>
          <a:stretch/>
        </p:blipFill>
        <p:spPr>
          <a:xfrm>
            <a:off x="572854" y="700256"/>
            <a:ext cx="3761222" cy="546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3B0B64-1BA7-4D03-BFF0-DA0E0C3EF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87" t="74080" r="3968" b="11950"/>
          <a:stretch/>
        </p:blipFill>
        <p:spPr>
          <a:xfrm>
            <a:off x="2543182" y="3290662"/>
            <a:ext cx="3765163" cy="574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5C5F40-4643-4EBE-99FB-83EA4E6F8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702" t="4388" r="14065" b="62279"/>
          <a:stretch/>
        </p:blipFill>
        <p:spPr>
          <a:xfrm>
            <a:off x="9924816" y="455460"/>
            <a:ext cx="1694330" cy="1770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D24BF3-347C-4F0B-AEC1-844E385209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93" t="24185" r="36182" b="63494"/>
          <a:stretch/>
        </p:blipFill>
        <p:spPr>
          <a:xfrm>
            <a:off x="4798228" y="764216"/>
            <a:ext cx="2698046" cy="4678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9CF7E0-11C2-4CEA-BA2E-2D738FA994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7" t="69204" r="12615" b="538"/>
          <a:stretch/>
        </p:blipFill>
        <p:spPr>
          <a:xfrm>
            <a:off x="459538" y="1800590"/>
            <a:ext cx="3720499" cy="94861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87FF31-7E36-4928-B124-5CEF232E7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9630" t="7031" r="49999" b="83024"/>
          <a:stretch/>
        </p:blipFill>
        <p:spPr>
          <a:xfrm>
            <a:off x="5550827" y="1890847"/>
            <a:ext cx="1111624" cy="401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507E8C-7BDD-45A5-A0CA-EC55286B14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71" t="23986" r="26379" b="62308"/>
          <a:stretch/>
        </p:blipFill>
        <p:spPr>
          <a:xfrm>
            <a:off x="7550878" y="1904026"/>
            <a:ext cx="1972235" cy="502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FDA3ED-F549-4624-9BA8-BADAE234F2A6}"/>
              </a:ext>
            </a:extLst>
          </p:cNvPr>
          <p:cNvSpPr txBox="1"/>
          <p:nvPr/>
        </p:nvSpPr>
        <p:spPr>
          <a:xfrm>
            <a:off x="222900" y="25940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feed system: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BB079C-E432-4839-8CEE-C1BC47F68A79}"/>
              </a:ext>
            </a:extLst>
          </p:cNvPr>
          <p:cNvSpPr txBox="1"/>
          <p:nvPr/>
        </p:nvSpPr>
        <p:spPr>
          <a:xfrm>
            <a:off x="388780" y="12536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pump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(isentropic)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004834-3F3E-4E6F-8693-EE10DB9DB21F}"/>
              </a:ext>
            </a:extLst>
          </p:cNvPr>
          <p:cNvSpPr txBox="1"/>
          <p:nvPr/>
        </p:nvSpPr>
        <p:spPr>
          <a:xfrm>
            <a:off x="388780" y="2736380"/>
            <a:ext cx="6948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required to generate the same pressure ratio in real pump: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65F1CD-4612-488D-89A9-6C1FB90865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618" t="49734" r="25751" b="32620"/>
          <a:stretch/>
        </p:blipFill>
        <p:spPr>
          <a:xfrm>
            <a:off x="7476622" y="2548282"/>
            <a:ext cx="2718775" cy="71538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470083-9A2C-48A0-B1A5-2A3050CB473B}"/>
              </a:ext>
            </a:extLst>
          </p:cNvPr>
          <p:cNvCxnSpPr>
            <a:cxnSpLocks/>
          </p:cNvCxnSpPr>
          <p:nvPr/>
        </p:nvCxnSpPr>
        <p:spPr>
          <a:xfrm>
            <a:off x="10135264" y="2994097"/>
            <a:ext cx="182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1C98A9-C5A1-4A90-8178-B235A473E09B}"/>
              </a:ext>
            </a:extLst>
          </p:cNvPr>
          <p:cNvSpPr txBox="1"/>
          <p:nvPr/>
        </p:nvSpPr>
        <p:spPr>
          <a:xfrm>
            <a:off x="10346196" y="2817193"/>
            <a:ext cx="151025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efficiency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495B6D-7D19-41CB-A39B-575492952120}"/>
              </a:ext>
            </a:extLst>
          </p:cNvPr>
          <p:cNvSpPr/>
          <p:nvPr/>
        </p:nvSpPr>
        <p:spPr>
          <a:xfrm>
            <a:off x="9350203" y="2905976"/>
            <a:ext cx="778763" cy="348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9676F-D75A-431B-9DA8-D6E31FC3361B}"/>
              </a:ext>
            </a:extLst>
          </p:cNvPr>
          <p:cNvSpPr txBox="1"/>
          <p:nvPr/>
        </p:nvSpPr>
        <p:spPr>
          <a:xfrm>
            <a:off x="418815" y="3339764"/>
            <a:ext cx="6948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power: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1C574B1-7838-49E4-914C-50AA61778CFF}"/>
              </a:ext>
            </a:extLst>
          </p:cNvPr>
          <p:cNvSpPr/>
          <p:nvPr/>
        </p:nvSpPr>
        <p:spPr>
          <a:xfrm>
            <a:off x="4678224" y="1945694"/>
            <a:ext cx="444112" cy="260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FB9C517-95EA-4860-8D77-B4C410D2169A}"/>
              </a:ext>
            </a:extLst>
          </p:cNvPr>
          <p:cNvSpPr/>
          <p:nvPr/>
        </p:nvSpPr>
        <p:spPr>
          <a:xfrm>
            <a:off x="6994179" y="2029719"/>
            <a:ext cx="444112" cy="260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12B247-1DDC-43B0-9057-D84A2BE8F3DE}"/>
              </a:ext>
            </a:extLst>
          </p:cNvPr>
          <p:cNvSpPr txBox="1"/>
          <p:nvPr/>
        </p:nvSpPr>
        <p:spPr>
          <a:xfrm>
            <a:off x="503898" y="4068041"/>
            <a:ext cx="178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Turbine 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B96156-4722-4C79-B555-40BB2954FD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24" t="10188" r="45882" b="82968"/>
          <a:stretch/>
        </p:blipFill>
        <p:spPr>
          <a:xfrm>
            <a:off x="520611" y="4581867"/>
            <a:ext cx="3155578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A3DBAFD-4D4D-4CF6-B6D4-2F8A24E1CB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088" t="19873" r="35486" b="69358"/>
          <a:stretch/>
        </p:blipFill>
        <p:spPr>
          <a:xfrm>
            <a:off x="3931235" y="4221783"/>
            <a:ext cx="1515036" cy="5811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D6C75D-BC96-4831-91FD-DAF9CAEEF9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305" t="29624" r="36872" b="60740"/>
          <a:stretch/>
        </p:blipFill>
        <p:spPr>
          <a:xfrm>
            <a:off x="5883876" y="4512349"/>
            <a:ext cx="3092825" cy="519954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2AA0CB0D-8401-4868-A514-D91A5EB2B6EC}"/>
              </a:ext>
            </a:extLst>
          </p:cNvPr>
          <p:cNvSpPr/>
          <p:nvPr/>
        </p:nvSpPr>
        <p:spPr>
          <a:xfrm>
            <a:off x="4178262" y="4722297"/>
            <a:ext cx="999924" cy="224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DEAFD-CECE-405D-9D02-429D9B6322E1}"/>
              </a:ext>
            </a:extLst>
          </p:cNvPr>
          <p:cNvSpPr txBox="1"/>
          <p:nvPr/>
        </p:nvSpPr>
        <p:spPr>
          <a:xfrm>
            <a:off x="418815" y="516415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turbine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(isentropic)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6307FB9-D23E-4F64-9D69-527B676110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949" r="65473" b="25667"/>
          <a:stretch/>
        </p:blipFill>
        <p:spPr>
          <a:xfrm>
            <a:off x="3568983" y="5195514"/>
            <a:ext cx="1958772" cy="4914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44BFFC-FFD9-4D25-880A-4E5A95454D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85" t="72344" r="62237" b="19541"/>
          <a:stretch/>
        </p:blipFill>
        <p:spPr>
          <a:xfrm>
            <a:off x="5804127" y="5227023"/>
            <a:ext cx="1582860" cy="3790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9A9F52-C491-4508-980C-F065A7FC1C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483" t="58530" r="32575" b="27586"/>
          <a:stretch/>
        </p:blipFill>
        <p:spPr>
          <a:xfrm>
            <a:off x="9924816" y="5047418"/>
            <a:ext cx="1510250" cy="58432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8A8AFB-4BFB-44E9-B5F3-F72FF4560B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80127" r="68061" b="7802"/>
          <a:stretch/>
        </p:blipFill>
        <p:spPr>
          <a:xfrm>
            <a:off x="2395976" y="5775823"/>
            <a:ext cx="2346014" cy="739831"/>
          </a:xfrm>
          <a:prstGeom prst="rect">
            <a:avLst/>
          </a:prstGeom>
        </p:spPr>
      </p:pic>
      <p:pic>
        <p:nvPicPr>
          <p:cNvPr id="33" name="Content Placeholder 6">
            <a:extLst>
              <a:ext uri="{FF2B5EF4-FFF2-40B4-BE49-F238E27FC236}">
                <a16:creationId xmlns:a16="http://schemas.microsoft.com/office/drawing/2014/main" id="{918A0B21-770F-4EF8-80BC-2EF84797F3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021" b="67037"/>
          <a:stretch/>
        </p:blipFill>
        <p:spPr>
          <a:xfrm>
            <a:off x="4623990" y="5541531"/>
            <a:ext cx="3229115" cy="102591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443039D-684E-4916-8CBF-DDF5C649E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87" t="86611" r="3968"/>
          <a:stretch/>
        </p:blipFill>
        <p:spPr>
          <a:xfrm>
            <a:off x="6410348" y="3357494"/>
            <a:ext cx="3765163" cy="55070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1F61E73-8B06-4A67-AB91-4F527FAC506A}"/>
              </a:ext>
            </a:extLst>
          </p:cNvPr>
          <p:cNvSpPr txBox="1"/>
          <p:nvPr/>
        </p:nvSpPr>
        <p:spPr>
          <a:xfrm>
            <a:off x="418815" y="585474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turbine efficiency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357D9C7-226B-4DB5-9690-56F83D7C7885}"/>
              </a:ext>
            </a:extLst>
          </p:cNvPr>
          <p:cNvSpPr/>
          <p:nvPr/>
        </p:nvSpPr>
        <p:spPr>
          <a:xfrm>
            <a:off x="4291667" y="887313"/>
            <a:ext cx="444112" cy="2609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54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342C6C-1120-46B0-92F6-9459EFA05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67" t="38397" r="33804" b="-6767"/>
          <a:stretch/>
        </p:blipFill>
        <p:spPr>
          <a:xfrm>
            <a:off x="4002740" y="3740327"/>
            <a:ext cx="1631576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AC83E-89D8-4EB8-A738-A498D14EC712}"/>
              </a:ext>
            </a:extLst>
          </p:cNvPr>
          <p:cNvSpPr txBox="1"/>
          <p:nvPr/>
        </p:nvSpPr>
        <p:spPr>
          <a:xfrm>
            <a:off x="519952" y="470787"/>
            <a:ext cx="111072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vapor bubbles where the fluid static pressure declines to levels below the fluid's vapor pressure.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rate to significantly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of pump surfaces by the collapse bubbles in higher pressure regions (important in reusable engines)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C89E44-D3E4-4608-BB6C-149F6906FF3A}"/>
                  </a:ext>
                </a:extLst>
              </p:cNvPr>
              <p:cNvSpPr txBox="1"/>
              <p:nvPr/>
            </p:nvSpPr>
            <p:spPr>
              <a:xfrm>
                <a:off x="627529" y="2309579"/>
                <a:ext cx="6096000" cy="554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Pressure head on head 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C89E44-D3E4-4608-BB6C-149F6906F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29" y="2309579"/>
                <a:ext cx="6096000" cy="554383"/>
              </a:xfrm>
              <a:prstGeom prst="rect">
                <a:avLst/>
              </a:prstGeom>
              <a:blipFill>
                <a:blip r:embed="rId3"/>
                <a:stretch>
                  <a:fillRect l="-700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AC9C417-B280-447D-BB5D-E854086DFE9A}"/>
              </a:ext>
            </a:extLst>
          </p:cNvPr>
          <p:cNvSpPr txBox="1"/>
          <p:nvPr/>
        </p:nvSpPr>
        <p:spPr>
          <a:xfrm>
            <a:off x="519952" y="3401773"/>
            <a:ext cx="39892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sz="1600" b="0" i="0" u="none" strike="noStrike" dirty="0">
                <a:solidFill>
                  <a:srgbClr val="605B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stagnation pressure of the fluid at the entrance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17410-2C74-4000-9658-586D910F7282}"/>
              </a:ext>
            </a:extLst>
          </p:cNvPr>
          <p:cNvSpPr txBox="1"/>
          <p:nvPr/>
        </p:nvSpPr>
        <p:spPr>
          <a:xfrm>
            <a:off x="5593091" y="3479523"/>
            <a:ext cx="192918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sz="1400" b="0" i="0" u="none" strike="noStrike" dirty="0">
                <a:solidFill>
                  <a:srgbClr val="5353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fluid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u="none" strike="noStrike" dirty="0">
                <a:solidFill>
                  <a:srgbClr val="4B4B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vapor pressure.</a:t>
            </a:r>
            <a:endParaRPr lang="en-U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EF4B0-4652-4235-A625-C80D4C8BDD54}"/>
              </a:ext>
            </a:extLst>
          </p:cNvPr>
          <p:cNvSpPr txBox="1"/>
          <p:nvPr/>
        </p:nvSpPr>
        <p:spPr>
          <a:xfrm>
            <a:off x="322727" y="4874935"/>
            <a:ext cx="121113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 for NPSH exists below which pump head declines dramatically: required suction head [(NPSH)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cavitation-related performance problems, the available NPSH [(NPSH)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should be kept more than that required [(NPSH)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0F2523-57D4-44B3-B79C-4C15A5CAC213}"/>
              </a:ext>
            </a:extLst>
          </p:cNvPr>
          <p:cNvSpPr txBox="1"/>
          <p:nvPr/>
        </p:nvSpPr>
        <p:spPr>
          <a:xfrm>
            <a:off x="627529" y="2951946"/>
            <a:ext cx="995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associated head is known as the net positive suction head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(NPSH):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CC56A5-025A-4F49-A8F7-4296FE1184A9}"/>
              </a:ext>
            </a:extLst>
          </p:cNvPr>
          <p:cNvCxnSpPr/>
          <p:nvPr/>
        </p:nvCxnSpPr>
        <p:spPr>
          <a:xfrm flipH="1" flipV="1">
            <a:off x="4392706" y="3740327"/>
            <a:ext cx="286870" cy="18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AF15E5-F82B-4FBB-A017-5C984693870F}"/>
              </a:ext>
            </a:extLst>
          </p:cNvPr>
          <p:cNvCxnSpPr/>
          <p:nvPr/>
        </p:nvCxnSpPr>
        <p:spPr>
          <a:xfrm flipV="1">
            <a:off x="5309793" y="3787300"/>
            <a:ext cx="324523" cy="16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61074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933</TotalTime>
  <Words>418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Cambria Math</vt:lpstr>
      <vt:lpstr>Corbel</vt:lpstr>
      <vt:lpstr>Courier New</vt:lpstr>
      <vt:lpstr>Times New Roman</vt:lpstr>
      <vt:lpstr>Wingdings</vt:lpstr>
      <vt:lpstr>Basis</vt:lpstr>
      <vt:lpstr>Section 7: Liquid propellant rocket engines </vt:lpstr>
      <vt:lpstr>PowerPoint Presentation</vt:lpstr>
      <vt:lpstr>PowerPoint Presentation</vt:lpstr>
      <vt:lpstr>The variation of specific impulse with fuel-oxidant ratio for complete combustion:</vt:lpstr>
      <vt:lpstr>LPRE propellant feed systems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30</cp:revision>
  <dcterms:created xsi:type="dcterms:W3CDTF">2024-10-05T20:41:39Z</dcterms:created>
  <dcterms:modified xsi:type="dcterms:W3CDTF">2024-10-07T00:21:42Z</dcterms:modified>
</cp:coreProperties>
</file>