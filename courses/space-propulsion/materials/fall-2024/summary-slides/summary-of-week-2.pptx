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8" r:id="rId3"/>
    <p:sldId id="263" r:id="rId4"/>
    <p:sldId id="264" r:id="rId5"/>
    <p:sldId id="262" r:id="rId6"/>
    <p:sldId id="259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mid" initials="H" lastIdx="1" clrIdx="0">
    <p:extLst>
      <p:ext uri="{19B8F6BF-5375-455C-9EA6-DF929625EA0E}">
        <p15:presenceInfo xmlns:p15="http://schemas.microsoft.com/office/powerpoint/2012/main" userId="Hami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6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D034EA4-F4FA-4879-89CA-F39062D7C7EC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94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0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77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6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06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3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78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3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7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9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D034EA4-F4FA-4879-89CA-F39062D7C7EC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0.png"/><Relationship Id="rId7" Type="http://schemas.openxmlformats.org/officeDocument/2006/relationships/image" Target="../media/image190.png"/><Relationship Id="rId12" Type="http://schemas.openxmlformats.org/officeDocument/2006/relationships/image" Target="../media/image24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11" Type="http://schemas.openxmlformats.org/officeDocument/2006/relationships/image" Target="../media/image230.png"/><Relationship Id="rId5" Type="http://schemas.openxmlformats.org/officeDocument/2006/relationships/image" Target="../media/image170.png"/><Relationship Id="rId10" Type="http://schemas.openxmlformats.org/officeDocument/2006/relationships/image" Target="../media/image220.png"/><Relationship Id="rId4" Type="http://schemas.openxmlformats.org/officeDocument/2006/relationships/image" Target="../media/image160.png"/><Relationship Id="rId9" Type="http://schemas.openxmlformats.org/officeDocument/2006/relationships/image" Target="../media/image2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0" Type="http://schemas.openxmlformats.org/officeDocument/2006/relationships/image" Target="../media/image35.png"/><Relationship Id="rId4" Type="http://schemas.openxmlformats.org/officeDocument/2006/relationships/image" Target="../media/image270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0728-12A4-4D82-B445-B16279969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864447"/>
            <a:ext cx="9966960" cy="292608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r>
              <a:rPr lang="en-US" sz="320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 2-</a:t>
            </a:r>
            <a:r>
              <a:rPr lang="en-US" sz="3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engXian" panose="020B0503020204020204" pitchFamily="2" charset="-122"/>
                <a:cs typeface="Times New Roman" panose="02020603050405020304" pitchFamily="18" charset="0"/>
              </a:rPr>
              <a:t>Rocket Performance</a:t>
            </a:r>
            <a:r>
              <a:rPr lang="en-US" sz="320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17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3D1A-369B-4AC5-A2DE-BCA7D204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32" y="530238"/>
            <a:ext cx="4930660" cy="369332"/>
          </a:xfr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 algn="ctr"/>
            <a:r>
              <a:rPr lang="en-US" sz="20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Sounding Rocket Altitude Equation:</a:t>
            </a:r>
            <a:br>
              <a:rPr lang="en-US" sz="20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816089-9146-4A75-BFCE-737F9434CDD5}"/>
                  </a:ext>
                </a:extLst>
              </p:cNvPr>
              <p:cNvSpPr txBox="1"/>
              <p:nvPr/>
            </p:nvSpPr>
            <p:spPr>
              <a:xfrm>
                <a:off x="554395" y="756414"/>
                <a:ext cx="60960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00050" indent="-400050">
                  <a:buClr>
                    <a:srgbClr val="C00000"/>
                  </a:buClr>
                  <a:buFont typeface="Wingdings" panose="05000000000000000000" pitchFamily="2" charset="2"/>
                  <a:buChar char="ü"/>
                </a:pP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Neglect drag </a:t>
                </a:r>
              </a:p>
              <a:p>
                <a:pPr marL="400050" indent="-400050">
                  <a:buClr>
                    <a:srgbClr val="C00000"/>
                  </a:buClr>
                  <a:buFont typeface="Wingdings" panose="05000000000000000000" pitchFamily="2" charset="2"/>
                  <a:buChar char="ü"/>
                </a:pPr>
                <a:r>
                  <a:rPr 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Constant 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effective exhaust velocity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𝑔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sz="1600" b="0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endParaRPr>
              </a:p>
              <a:p>
                <a:pPr marL="400050" indent="-400050">
                  <a:buClr>
                    <a:srgbClr val="C00000"/>
                  </a:buClr>
                  <a:buFont typeface="Wingdings" panose="05000000000000000000" pitchFamily="2" charset="2"/>
                  <a:buChar char="ü"/>
                </a:pP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Vertical flight  </a:t>
                </a:r>
                <a14:m>
                  <m:oMath xmlns:m="http://schemas.openxmlformats.org/officeDocument/2006/math"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𝜃</m:t>
                    </m:r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=</m:t>
                    </m:r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0</m:t>
                    </m:r>
                  </m:oMath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816089-9146-4A75-BFCE-737F9434C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95" y="756414"/>
                <a:ext cx="6096000" cy="830997"/>
              </a:xfrm>
              <a:prstGeom prst="rect">
                <a:avLst/>
              </a:prstGeom>
              <a:blipFill>
                <a:blip r:embed="rId2"/>
                <a:stretch>
                  <a:fillRect l="-400" t="-2206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D37B486-2DB2-49FA-9EAE-30F8036762EC}"/>
                  </a:ext>
                </a:extLst>
              </p:cNvPr>
              <p:cNvSpPr txBox="1"/>
              <p:nvPr/>
            </p:nvSpPr>
            <p:spPr>
              <a:xfrm>
                <a:off x="1782615" y="2414476"/>
                <a:ext cx="3794424" cy="469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𝑴</m:t>
                      </m:r>
                      <m:d>
                        <m:dPr>
                          <m:ctrlPr>
                            <a:rPr lang="en-US" sz="12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2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𝒕</m:t>
                          </m:r>
                        </m:e>
                      </m:d>
                      <m:r>
                        <a:rPr lang="en-US" sz="1200" b="1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  <m:r>
                        <a:rPr lang="en-US" sz="1200" b="1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en-US" sz="12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US" sz="12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</m:acc>
                      <m:r>
                        <a:rPr lang="en-US" sz="1200" b="1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∗</m:t>
                      </m:r>
                      <m:r>
                        <a:rPr lang="en-US" sz="1200" b="1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en-US" sz="1200" b="1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  <m:r>
                        <a:rPr lang="en-US" sz="1200" b="1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1200" b="1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12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1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1200" b="1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200" b="1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𝒃</m:t>
                              </m:r>
                            </m:sub>
                          </m:sSub>
                        </m:den>
                      </m:f>
                      <m:r>
                        <a:rPr lang="en-US" sz="1200" b="1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𝒕</m:t>
                      </m:r>
                    </m:oMath>
                  </m:oMathPara>
                </a14:m>
                <a:endParaRPr lang="en-US" sz="1600" b="1" kern="1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D37B486-2DB2-49FA-9EAE-30F803676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615" y="2414476"/>
                <a:ext cx="3794424" cy="4691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DFC0E8F-2D3F-4E1B-BE20-6E84DC42290D}"/>
              </a:ext>
            </a:extLst>
          </p:cNvPr>
          <p:cNvSpPr txBox="1"/>
          <p:nvPr/>
        </p:nvSpPr>
        <p:spPr>
          <a:xfrm>
            <a:off x="5676675" y="98629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Altitude at burnout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ECD433-8EB6-48A9-BD91-A84948BFEB61}"/>
                  </a:ext>
                </a:extLst>
              </p:cNvPr>
              <p:cNvSpPr txBox="1"/>
              <p:nvPr/>
            </p:nvSpPr>
            <p:spPr>
              <a:xfrm>
                <a:off x="569509" y="1842691"/>
                <a:ext cx="6096000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u</m:t>
                    </m:r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sz="1800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=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𝑒𝑞</m:t>
                        </m:r>
                      </m:sub>
                    </m:sSub>
                    <m:func>
                      <m:func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1800" kern="1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M</m:t>
                            </m:r>
                            <m:d>
                              <m:d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𝑔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ECD433-8EB6-48A9-BD91-A84948BFE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09" y="1842691"/>
                <a:ext cx="6096000" cy="5393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87D1DF7-F1AC-4F84-9AFA-A9F4C7BF570B}"/>
                  </a:ext>
                </a:extLst>
              </p:cNvPr>
              <p:cNvSpPr txBox="1"/>
              <p:nvPr/>
            </p:nvSpPr>
            <p:spPr>
              <a:xfrm>
                <a:off x="6427696" y="842169"/>
                <a:ext cx="6355976" cy="642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87D1DF7-F1AC-4F84-9AFA-A9F4C7BF5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696" y="842169"/>
                <a:ext cx="6355976" cy="6429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9E8558-DDFF-49FA-B9A1-2BF43899649A}"/>
                  </a:ext>
                </a:extLst>
              </p:cNvPr>
              <p:cNvSpPr txBox="1"/>
              <p:nvPr/>
            </p:nvSpPr>
            <p:spPr>
              <a:xfrm>
                <a:off x="3817931" y="2579015"/>
                <a:ext cx="6355976" cy="640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smtClean="0">
                          <a:latin typeface="Cambria Math" panose="02040503050406030204" pitchFamily="18" charset="0"/>
                        </a:rPr>
                        <m:t>u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lin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den>
                                  </m:f>
                                </m:e>
                              </m:d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6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9E8558-DDFF-49FA-B9A1-2BF438996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931" y="2579015"/>
                <a:ext cx="6355976" cy="6403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AEE5C1-0767-47E3-958F-28FD87265719}"/>
                  </a:ext>
                </a:extLst>
              </p:cNvPr>
              <p:cNvSpPr txBox="1"/>
              <p:nvPr/>
            </p:nvSpPr>
            <p:spPr>
              <a:xfrm>
                <a:off x="9768054" y="2719519"/>
                <a:ext cx="63559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for t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≤</m:t>
                    </m:r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en-US" sz="1600" baseline="-250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AEE5C1-0767-47E3-958F-28FD87265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054" y="2719519"/>
                <a:ext cx="6355976" cy="338554"/>
              </a:xfrm>
              <a:prstGeom prst="rect">
                <a:avLst/>
              </a:prstGeom>
              <a:blipFill>
                <a:blip r:embed="rId7"/>
                <a:stretch>
                  <a:fillRect l="-479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76611E-349C-4120-8BAB-F9DACFD0F8A5}"/>
                  </a:ext>
                </a:extLst>
              </p:cNvPr>
              <p:cNvSpPr txBox="1"/>
              <p:nvPr/>
            </p:nvSpPr>
            <p:spPr>
              <a:xfrm>
                <a:off x="2891443" y="1969403"/>
                <a:ext cx="6544234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func>
                      <m:r>
                        <a:rPr lang="en-US" sz="16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76611E-349C-4120-8BAB-F9DACFD0F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443" y="1969403"/>
                <a:ext cx="6544234" cy="357534"/>
              </a:xfrm>
              <a:prstGeom prst="rect">
                <a:avLst/>
              </a:prstGeom>
              <a:blipFill>
                <a:blip r:embed="rId8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3535A15-FAFD-431E-9B2B-25C134F67C65}"/>
                  </a:ext>
                </a:extLst>
              </p:cNvPr>
              <p:cNvSpPr txBox="1"/>
              <p:nvPr/>
            </p:nvSpPr>
            <p:spPr>
              <a:xfrm>
                <a:off x="6575230" y="3515026"/>
                <a:ext cx="6799728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𝑙𝑛𝑅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skw"/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Sup>
                        <m:sSub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3535A15-FAFD-431E-9B2B-25C134F67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230" y="3515026"/>
                <a:ext cx="6799728" cy="5582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C1467CC9-C9DB-4606-9805-572F9EAFDF59}"/>
              </a:ext>
            </a:extLst>
          </p:cNvPr>
          <p:cNvSpPr txBox="1"/>
          <p:nvPr/>
        </p:nvSpPr>
        <p:spPr>
          <a:xfrm>
            <a:off x="158900" y="3686090"/>
            <a:ext cx="6799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16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Altitude at burnout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44CE20A-F67D-4A77-A374-1FB9D3D7155B}"/>
                  </a:ext>
                </a:extLst>
              </p:cNvPr>
              <p:cNvSpPr txBox="1"/>
              <p:nvPr/>
            </p:nvSpPr>
            <p:spPr>
              <a:xfrm>
                <a:off x="1427630" y="3583015"/>
                <a:ext cx="6539752" cy="578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𝑒𝑞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type m:val="skw"/>
                                          <m:ctrlPr>
                                            <a:rPr lang="en-US" sz="14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den>
                                      </m:f>
                                    </m:e>
                                  </m:d>
                                  <m:f>
                                    <m:fPr>
                                      <m:ctrlPr>
                                        <a:rPr lang="en-US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44CE20A-F67D-4A77-A374-1FB9D3D71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630" y="3583015"/>
                <a:ext cx="6539752" cy="5788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E9C384-301C-45EE-AF98-40360B34D6E4}"/>
                  </a:ext>
                </a:extLst>
              </p:cNvPr>
              <p:cNvSpPr txBox="1"/>
              <p:nvPr/>
            </p:nvSpPr>
            <p:spPr>
              <a:xfrm>
                <a:off x="169240" y="4412130"/>
                <a:ext cx="653975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rgbClr val="C00000"/>
                  </a:buClr>
                  <a:buFont typeface="Wingdings" panose="05000000000000000000" pitchFamily="2" charset="2"/>
                  <a:buChar char="v"/>
                </a:pPr>
                <a:r>
                  <a:rPr lang="en-US" sz="1600" b="1" dirty="0"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sz="1600" b="1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ltitude  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𝐭</m:t>
                        </m:r>
                        <m:r>
                          <a:rPr lang="en-US" sz="1600" b="1" i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&lt;</m:t>
                        </m:r>
                        <m:r>
                          <a:rPr lang="en-US" sz="1600" b="1" i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𝐭</m:t>
                        </m:r>
                      </m:e>
                      <m:sub>
                        <m:r>
                          <a:rPr lang="en-US" sz="1600" b="1" i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𝐛</m:t>
                        </m:r>
                      </m:sub>
                    </m:sSub>
                  </m:oMath>
                </a14:m>
                <a:endPara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E9C384-301C-45EE-AF98-40360B34D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40" y="4412130"/>
                <a:ext cx="6539752" cy="338554"/>
              </a:xfrm>
              <a:prstGeom prst="rect">
                <a:avLst/>
              </a:prstGeom>
              <a:blipFill>
                <a:blip r:embed="rId11"/>
                <a:stretch>
                  <a:fillRect l="-373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1ACA44A-6E4B-4861-A42B-CB651DD82377}"/>
                  </a:ext>
                </a:extLst>
              </p:cNvPr>
              <p:cNvSpPr txBox="1"/>
              <p:nvPr/>
            </p:nvSpPr>
            <p:spPr>
              <a:xfrm>
                <a:off x="2891443" y="4460772"/>
                <a:ext cx="7611035" cy="5043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2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den>
                                  </m:f>
                                </m:e>
                              </m:d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2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den>
                                  </m:f>
                                </m:e>
                              </m:d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2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den>
                                  </m:f>
                                </m:e>
                              </m:d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sz="12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skw"/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p>
                        <m:sSup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1ACA44A-6E4B-4861-A42B-CB651DD82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443" y="4460772"/>
                <a:ext cx="7611035" cy="504305"/>
              </a:xfrm>
              <a:prstGeom prst="rect">
                <a:avLst/>
              </a:prstGeom>
              <a:blipFill>
                <a:blip r:embed="rId12"/>
                <a:stretch>
                  <a:fillRect t="-51220" b="-89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1C3D6FD-2E42-4295-8877-76F7191CE507}"/>
                  </a:ext>
                </a:extLst>
              </p:cNvPr>
              <p:cNvSpPr txBox="1"/>
              <p:nvPr/>
            </p:nvSpPr>
            <p:spPr>
              <a:xfrm>
                <a:off x="3203521" y="5019957"/>
                <a:ext cx="2423506" cy="636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1C3D6FD-2E42-4295-8877-76F7191CE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521" y="5019957"/>
                <a:ext cx="2423506" cy="63607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90B89EE-9082-47C2-95B9-2BE27DF1A75B}"/>
                  </a:ext>
                </a:extLst>
              </p:cNvPr>
              <p:cNvSpPr txBox="1"/>
              <p:nvPr/>
            </p:nvSpPr>
            <p:spPr>
              <a:xfrm>
                <a:off x="2774578" y="5656029"/>
                <a:ext cx="6831106" cy="780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du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𝑒𝑞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/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</m:d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𝑏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/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</m:d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𝑏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𝑔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    valid for t&lt;=t</a:t>
                </a:r>
                <a:r>
                  <a:rPr lang="en-US" sz="1600" baseline="-250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90B89EE-9082-47C2-95B9-2BE27DF1A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578" y="5656029"/>
                <a:ext cx="6831106" cy="78053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DC9578F3-2E75-467C-9097-C7C9F5A03420}"/>
              </a:ext>
            </a:extLst>
          </p:cNvPr>
          <p:cNvSpPr txBox="1"/>
          <p:nvPr/>
        </p:nvSpPr>
        <p:spPr>
          <a:xfrm>
            <a:off x="3223851" y="1827178"/>
            <a:ext cx="1789141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Velocity at burnout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DF67A1C7-6DD4-4F61-8363-7A5B5CCD46AB}"/>
              </a:ext>
            </a:extLst>
          </p:cNvPr>
          <p:cNvSpPr/>
          <p:nvPr/>
        </p:nvSpPr>
        <p:spPr>
          <a:xfrm>
            <a:off x="3393557" y="2164754"/>
            <a:ext cx="1303949" cy="1624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331AAC-E832-41D5-A516-9C6BE6745A04}"/>
              </a:ext>
            </a:extLst>
          </p:cNvPr>
          <p:cNvSpPr txBox="1"/>
          <p:nvPr/>
        </p:nvSpPr>
        <p:spPr>
          <a:xfrm>
            <a:off x="2955344" y="3044490"/>
            <a:ext cx="232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constant fuel burn rate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CDFC2706-EBF2-47A2-8457-DBEBB5AFCF60}"/>
              </a:ext>
            </a:extLst>
          </p:cNvPr>
          <p:cNvSpPr/>
          <p:nvPr/>
        </p:nvSpPr>
        <p:spPr>
          <a:xfrm>
            <a:off x="3307771" y="2826580"/>
            <a:ext cx="1303949" cy="1624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F83220B4-FC8C-4751-B3F9-72124434C99E}"/>
              </a:ext>
            </a:extLst>
          </p:cNvPr>
          <p:cNvSpPr/>
          <p:nvPr/>
        </p:nvSpPr>
        <p:spPr>
          <a:xfrm>
            <a:off x="7342025" y="3813970"/>
            <a:ext cx="632149" cy="210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AAD8876-11EF-4B24-8F10-5B307AF02902}"/>
              </a:ext>
            </a:extLst>
          </p:cNvPr>
          <p:cNvSpPr/>
          <p:nvPr/>
        </p:nvSpPr>
        <p:spPr>
          <a:xfrm>
            <a:off x="3470990" y="3602679"/>
            <a:ext cx="208838" cy="21129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BF7861-93C5-4135-A24C-3C02BD494F39}"/>
              </a:ext>
            </a:extLst>
          </p:cNvPr>
          <p:cNvSpPr txBox="1"/>
          <p:nvPr/>
        </p:nvSpPr>
        <p:spPr>
          <a:xfrm>
            <a:off x="169240" y="5826894"/>
            <a:ext cx="7898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16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Rocket’s acceleration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D16D4D-043A-4A11-BBEE-CE95A3CE9F81}"/>
              </a:ext>
            </a:extLst>
          </p:cNvPr>
          <p:cNvSpPr txBox="1"/>
          <p:nvPr/>
        </p:nvSpPr>
        <p:spPr>
          <a:xfrm>
            <a:off x="169240" y="5191750"/>
            <a:ext cx="2605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Maximum Altitude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780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AF02A4-C342-4147-BF80-4706FB2DAE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320" y="430821"/>
            <a:ext cx="9875838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Chemical Rockets: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63A92B-347D-46B5-85DD-A2BB6D0E3EA4}"/>
              </a:ext>
            </a:extLst>
          </p:cNvPr>
          <p:cNvSpPr txBox="1"/>
          <p:nvPr/>
        </p:nvSpPr>
        <p:spPr>
          <a:xfrm>
            <a:off x="451320" y="3000500"/>
            <a:ext cx="6656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 mass: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34981A-04C2-4767-8C27-C5EEC1D5FE29}"/>
              </a:ext>
            </a:extLst>
          </p:cNvPr>
          <p:cNvSpPr txBox="1"/>
          <p:nvPr/>
        </p:nvSpPr>
        <p:spPr>
          <a:xfrm>
            <a:off x="546407" y="918412"/>
            <a:ext cx="1116927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Single-stage Rockets: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04CA8F-B5A7-45D7-9CE4-246EC522A072}"/>
              </a:ext>
            </a:extLst>
          </p:cNvPr>
          <p:cNvSpPr txBox="1"/>
          <p:nvPr/>
        </p:nvSpPr>
        <p:spPr>
          <a:xfrm>
            <a:off x="451320" y="2070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Ratio: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AB42E09-1F69-4AB9-9D2A-6962C07D9C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57" b="-3359"/>
          <a:stretch/>
        </p:blipFill>
        <p:spPr>
          <a:xfrm>
            <a:off x="6482648" y="2035790"/>
            <a:ext cx="986646" cy="720862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EEC5C4B-991E-471B-875A-B8F63AF41722}"/>
                  </a:ext>
                </a:extLst>
              </p:cNvPr>
              <p:cNvSpPr txBox="1"/>
              <p:nvPr/>
            </p:nvSpPr>
            <p:spPr>
              <a:xfrm>
                <a:off x="1560315" y="1938733"/>
                <a:ext cx="6096000" cy="647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𝑒𝑞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EEC5C4B-991E-471B-875A-B8F63AF41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315" y="1938733"/>
                <a:ext cx="6096000" cy="647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A5E69B2-CAB3-4DD7-88C8-809D28956725}"/>
                  </a:ext>
                </a:extLst>
              </p:cNvPr>
              <p:cNvSpPr txBox="1"/>
              <p:nvPr/>
            </p:nvSpPr>
            <p:spPr>
              <a:xfrm>
                <a:off x="873618" y="2997946"/>
                <a:ext cx="6096000" cy="358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𝑒𝑛𝑔</m:t>
                              </m:r>
                            </m:sub>
                          </m:s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𝑡𝑎𝑛𝑘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A5E69B2-CAB3-4DD7-88C8-809D28956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618" y="2997946"/>
                <a:ext cx="6096000" cy="358560"/>
              </a:xfrm>
              <a:prstGeom prst="rect">
                <a:avLst/>
              </a:prstGeom>
              <a:blipFill>
                <a:blip r:embed="rId4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DA2FA32-1E80-485C-8030-C0818CCFBAC7}"/>
                  </a:ext>
                </a:extLst>
              </p:cNvPr>
              <p:cNvSpPr txBox="1"/>
              <p:nvPr/>
            </p:nvSpPr>
            <p:spPr>
              <a:xfrm>
                <a:off x="6179575" y="3564969"/>
                <a:ext cx="6096000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𝑒𝑛𝑔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𝑡𝑎𝑛𝑘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−∆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𝑒𝑞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DA2FA32-1E80-485C-8030-C0818CCFB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575" y="3564969"/>
                <a:ext cx="6096000" cy="669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5F61C3-9549-45BD-8EB0-172FCECBC69D}"/>
                  </a:ext>
                </a:extLst>
              </p:cNvPr>
              <p:cNvSpPr txBox="1"/>
              <p:nvPr/>
            </p:nvSpPr>
            <p:spPr>
              <a:xfrm>
                <a:off x="3383366" y="4211262"/>
                <a:ext cx="9285194" cy="971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𝑒𝑛𝑔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𝑡𝑎𝑛𝑘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𝑒𝑛𝑔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𝑡𝑎𝑛𝑘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𝑒𝑛𝑔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𝑡𝑎𝑛𝑘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𝑃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∆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u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Arial" panose="020B0604020202020204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Arial" panose="020B0604020202020204" pitchFamily="34" charset="0"/>
                                          </a:rPr>
                                          <m:t>𝑒𝑞</m:t>
                                        </m:r>
                                      </m:sub>
                                    </m:sSub>
                                  </m:den>
                                </m:f>
                              </m:sup>
                            </m:sSup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∆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u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Arial" panose="020B0604020202020204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Arial" panose="020B0604020202020204" pitchFamily="34" charset="0"/>
                                          </a:rPr>
                                          <m:t>𝑒𝑞</m:t>
                                        </m:r>
                                      </m:sub>
                                    </m:sSub>
                                  </m:den>
                                </m:f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𝑡𝑎𝑛𝑘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𝑃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𝑒𝑛𝑔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5F61C3-9549-45BD-8EB0-172FCECBC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366" y="4211262"/>
                <a:ext cx="9285194" cy="9716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Right 21">
            <a:extLst>
              <a:ext uri="{FF2B5EF4-FFF2-40B4-BE49-F238E27FC236}">
                <a16:creationId xmlns:a16="http://schemas.microsoft.com/office/drawing/2014/main" id="{5CBDCA12-AA8F-4CD8-910A-FB93290C62BB}"/>
              </a:ext>
            </a:extLst>
          </p:cNvPr>
          <p:cNvSpPr/>
          <p:nvPr/>
        </p:nvSpPr>
        <p:spPr>
          <a:xfrm>
            <a:off x="5758579" y="3359212"/>
            <a:ext cx="1088527" cy="1542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170B9E8-6F36-45C4-A4A2-45009FB5BD9C}"/>
                  </a:ext>
                </a:extLst>
              </p:cNvPr>
              <p:cNvSpPr txBox="1"/>
              <p:nvPr/>
            </p:nvSpPr>
            <p:spPr>
              <a:xfrm>
                <a:off x="546407" y="3398227"/>
                <a:ext cx="6750422" cy="376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𝑒𝑛𝑔</m:t>
                              </m:r>
                            </m:sub>
                          </m:s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𝑡𝑎𝑛𝑘</m:t>
                              </m:r>
                            </m:sub>
                          </m:sSub>
                        </m:e>
                      </m:d>
                      <m:r>
                        <a:rPr lang="en-US" sz="16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170B9E8-6F36-45C4-A4A2-45009FB5B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07" y="3398227"/>
                <a:ext cx="6750422" cy="376193"/>
              </a:xfrm>
              <a:prstGeom prst="rect">
                <a:avLst/>
              </a:prstGeom>
              <a:blipFill>
                <a:blip r:embed="rId7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F50707A-2E5E-4462-9743-137F97F903F6}"/>
              </a:ext>
            </a:extLst>
          </p:cNvPr>
          <p:cNvSpPr txBox="1"/>
          <p:nvPr/>
        </p:nvSpPr>
        <p:spPr>
          <a:xfrm>
            <a:off x="451320" y="4455852"/>
            <a:ext cx="6656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Coefficient: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D895FC-07DE-44D2-B95E-5E7387002F02}"/>
                  </a:ext>
                </a:extLst>
              </p:cNvPr>
              <p:cNvSpPr txBox="1"/>
              <p:nvPr/>
            </p:nvSpPr>
            <p:spPr>
              <a:xfrm>
                <a:off x="5702003" y="2986877"/>
                <a:ext cx="6335484" cy="602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𝑒𝑛𝑔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𝑡𝑎𝑛𝑘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D895FC-07DE-44D2-B95E-5E7387002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003" y="2986877"/>
                <a:ext cx="6335484" cy="6024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5DEDC63-CE2E-471B-A9FB-8CC3896F6DD8}"/>
                  </a:ext>
                </a:extLst>
              </p:cNvPr>
              <p:cNvSpPr txBox="1"/>
              <p:nvPr/>
            </p:nvSpPr>
            <p:spPr>
              <a:xfrm>
                <a:off x="6467097" y="1985431"/>
                <a:ext cx="6335484" cy="715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𝑒𝑞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5DEDC63-CE2E-471B-A9FB-8CC3896F6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097" y="1985431"/>
                <a:ext cx="6335484" cy="7159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5209FD65-60E1-4172-8F97-50B62EAC0ED5}"/>
              </a:ext>
            </a:extLst>
          </p:cNvPr>
          <p:cNvSpPr/>
          <p:nvPr/>
        </p:nvSpPr>
        <p:spPr>
          <a:xfrm>
            <a:off x="7884367" y="2226580"/>
            <a:ext cx="587829" cy="359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25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F85704-61A2-49B1-80EF-C1B5A3B68979}"/>
              </a:ext>
            </a:extLst>
          </p:cNvPr>
          <p:cNvSpPr txBox="1"/>
          <p:nvPr/>
        </p:nvSpPr>
        <p:spPr>
          <a:xfrm>
            <a:off x="482860" y="59149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b="1" i="0" u="none" strike="noStrike" baseline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-stage Rockets:</a:t>
            </a:r>
            <a:endParaRPr lang="en-US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6A29D5-4565-4FD5-9515-08572D8A9695}"/>
                  </a:ext>
                </a:extLst>
              </p:cNvPr>
              <p:cNvSpPr txBox="1"/>
              <p:nvPr/>
            </p:nvSpPr>
            <p:spPr>
              <a:xfrm>
                <a:off x="3329610" y="2044992"/>
                <a:ext cx="6097554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𝑒𝑖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6A29D5-4565-4FD5-9515-08572D8A9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610" y="2044992"/>
                <a:ext cx="6097554" cy="7645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87378A-7DCE-4804-8E99-F5A4965BC06B}"/>
                  </a:ext>
                </a:extLst>
              </p:cNvPr>
              <p:cNvSpPr txBox="1"/>
              <p:nvPr/>
            </p:nvSpPr>
            <p:spPr>
              <a:xfrm>
                <a:off x="3197612" y="1434224"/>
                <a:ext cx="60975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a-I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𝑙𝑛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87378A-7DCE-4804-8E99-F5A4965BC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612" y="1434224"/>
                <a:ext cx="609755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76814EA-63DF-4C4F-AB64-D77F62318F0B}"/>
              </a:ext>
            </a:extLst>
          </p:cNvPr>
          <p:cNvSpPr txBox="1"/>
          <p:nvPr/>
        </p:nvSpPr>
        <p:spPr>
          <a:xfrm>
            <a:off x="326436" y="129893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velocity increment 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4F67F0-ED1D-463A-B29B-17DA45B1A4E0}"/>
              </a:ext>
            </a:extLst>
          </p:cNvPr>
          <p:cNvSpPr txBox="1"/>
          <p:nvPr/>
        </p:nvSpPr>
        <p:spPr>
          <a:xfrm>
            <a:off x="261349" y="225364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 terminal velocity 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646F4D-6E97-4AB2-A69F-DFFC6313B515}"/>
              </a:ext>
            </a:extLst>
          </p:cNvPr>
          <p:cNvSpPr txBox="1"/>
          <p:nvPr/>
        </p:nvSpPr>
        <p:spPr>
          <a:xfrm>
            <a:off x="326436" y="3362916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exhaust velocities are all the same</a:t>
            </a:r>
            <a:r>
              <a:rPr lang="en-US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9A516B-CAE0-4328-82C5-F7945D25405E}"/>
                  </a:ext>
                </a:extLst>
              </p:cNvPr>
              <p:cNvSpPr txBox="1"/>
              <p:nvPr/>
            </p:nvSpPr>
            <p:spPr>
              <a:xfrm>
                <a:off x="4170784" y="3117219"/>
                <a:ext cx="6097554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a-I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fa-I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9A516B-CAE0-4328-82C5-F7945D254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784" y="3117219"/>
                <a:ext cx="6097554" cy="7645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C8DEF6-0FB6-42CF-83E7-AC668A66BF48}"/>
                  </a:ext>
                </a:extLst>
              </p:cNvPr>
              <p:cNvSpPr txBox="1"/>
              <p:nvPr/>
            </p:nvSpPr>
            <p:spPr>
              <a:xfrm>
                <a:off x="3310126" y="4136866"/>
                <a:ext cx="6096000" cy="1111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a-I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𝑛𝑙𝑛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01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01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𝐿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C8DEF6-0FB6-42CF-83E7-AC668A66B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126" y="4136866"/>
                <a:ext cx="6096000" cy="11118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BCB797-7E86-4924-B927-F6F38D8814A9}"/>
                  </a:ext>
                </a:extLst>
              </p:cNvPr>
              <p:cNvSpPr txBox="1"/>
              <p:nvPr/>
            </p:nvSpPr>
            <p:spPr>
              <a:xfrm>
                <a:off x="0" y="4118998"/>
                <a:ext cx="6096000" cy="601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BCB797-7E86-4924-B927-F6F38D881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18998"/>
                <a:ext cx="6096000" cy="6013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5569502-35A7-4AD3-8213-587A78186551}"/>
                  </a:ext>
                </a:extLst>
              </p:cNvPr>
              <p:cNvSpPr txBox="1"/>
              <p:nvPr/>
            </p:nvSpPr>
            <p:spPr>
              <a:xfrm>
                <a:off x="6714885" y="5690348"/>
                <a:ext cx="6696634" cy="610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5569502-35A7-4AD3-8213-587A78186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885" y="5690348"/>
                <a:ext cx="6696634" cy="6106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8AF669F-1746-4E86-BC37-D5CABEB0D4F4}"/>
                  </a:ext>
                </a:extLst>
              </p:cNvPr>
              <p:cNvSpPr txBox="1"/>
              <p:nvPr/>
            </p:nvSpPr>
            <p:spPr>
              <a:xfrm>
                <a:off x="2346337" y="5619461"/>
                <a:ext cx="6696634" cy="878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limLow>
                        <m:limLow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lim>
                      </m:limLow>
                      <m:d>
                        <m:dPr>
                          <m:begChr m:val="{"/>
                          <m:endChr m:val="}"/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𝑛𝑙𝑛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f>
                                        <m:f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01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8AF669F-1746-4E86-BC37-D5CABEB0D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337" y="5619461"/>
                <a:ext cx="6696634" cy="8784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C91E00E5-E22D-491E-B1E0-31988D7099C6}"/>
              </a:ext>
            </a:extLst>
          </p:cNvPr>
          <p:cNvSpPr txBox="1"/>
          <p:nvPr/>
        </p:nvSpPr>
        <p:spPr>
          <a:xfrm>
            <a:off x="359879" y="5811022"/>
            <a:ext cx="7375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stages: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BDAF318F-16FF-4A1E-954E-6F6FD1774E41}"/>
              </a:ext>
            </a:extLst>
          </p:cNvPr>
          <p:cNvSpPr/>
          <p:nvPr/>
        </p:nvSpPr>
        <p:spPr>
          <a:xfrm>
            <a:off x="2567796" y="4770815"/>
            <a:ext cx="963841" cy="2952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55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ECB940-6F9D-44A0-A5C7-842E2FA0988A}"/>
                  </a:ext>
                </a:extLst>
              </p:cNvPr>
              <p:cNvSpPr txBox="1"/>
              <p:nvPr/>
            </p:nvSpPr>
            <p:spPr>
              <a:xfrm>
                <a:off x="745991" y="4714933"/>
                <a:ext cx="3031407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ECB940-6F9D-44A0-A5C7-842E2FA09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91" y="4714933"/>
                <a:ext cx="3031407" cy="276999"/>
              </a:xfrm>
              <a:prstGeom prst="rect">
                <a:avLst/>
              </a:prstGeom>
              <a:blipFill>
                <a:blip r:embed="rId2"/>
                <a:stretch>
                  <a:fillRect l="-1400" r="-2000" b="-2916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968B17-E143-44E1-AAE6-2B6A27D2E9E0}"/>
                  </a:ext>
                </a:extLst>
              </p:cNvPr>
              <p:cNvSpPr txBox="1"/>
              <p:nvPr/>
            </p:nvSpPr>
            <p:spPr>
              <a:xfrm>
                <a:off x="5016572" y="4581159"/>
                <a:ext cx="6096000" cy="499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=0.0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968B17-E143-44E1-AAE6-2B6A27D2E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572" y="4581159"/>
                <a:ext cx="6096000" cy="499560"/>
              </a:xfrm>
              <a:prstGeom prst="rect">
                <a:avLst/>
              </a:prstGeom>
              <a:blipFill>
                <a:blip r:embed="rId3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208B1C-93BC-4E37-9014-6CA6F243FE7F}"/>
                  </a:ext>
                </a:extLst>
              </p:cNvPr>
              <p:cNvSpPr txBox="1"/>
              <p:nvPr/>
            </p:nvSpPr>
            <p:spPr>
              <a:xfrm>
                <a:off x="5016572" y="5080719"/>
                <a:ext cx="6096000" cy="53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=0.0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208B1C-93BC-4E37-9014-6CA6F243F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572" y="5080719"/>
                <a:ext cx="6096000" cy="530530"/>
              </a:xfrm>
              <a:prstGeom prst="rect">
                <a:avLst/>
              </a:prstGeom>
              <a:blipFill>
                <a:blip r:embed="rId4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1A03DB-1495-4CF9-8C09-F4C5E6F13F76}"/>
                  </a:ext>
                </a:extLst>
              </p:cNvPr>
              <p:cNvSpPr txBox="1"/>
              <p:nvPr/>
            </p:nvSpPr>
            <p:spPr>
              <a:xfrm>
                <a:off x="545811" y="962922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Maxima or minima: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𝑑𝑧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1A03DB-1495-4CF9-8C09-F4C5E6F13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11" y="962922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l="-900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itle 1">
            <a:extLst>
              <a:ext uri="{FF2B5EF4-FFF2-40B4-BE49-F238E27FC236}">
                <a16:creationId xmlns:a16="http://schemas.microsoft.com/office/drawing/2014/main" id="{12B20AD0-2EE1-4244-A55E-8010FC3B2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2271" y="255199"/>
            <a:ext cx="4242248" cy="892389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Lagrange multiplier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12983D-2A59-43FB-92B9-09DFFFCE4DB4}"/>
                  </a:ext>
                </a:extLst>
              </p:cNvPr>
              <p:cNvSpPr txBox="1"/>
              <p:nvPr/>
            </p:nvSpPr>
            <p:spPr>
              <a:xfrm>
                <a:off x="7359893" y="852996"/>
                <a:ext cx="2088907" cy="53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dy=0.0</a:t>
                </a:r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12983D-2A59-43FB-92B9-09DFFFCE4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893" y="852996"/>
                <a:ext cx="2088907" cy="530530"/>
              </a:xfrm>
              <a:prstGeom prst="rect">
                <a:avLst/>
              </a:prstGeom>
              <a:blipFill>
                <a:blip r:embed="rId6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6A24676E-7DE7-4764-8D8F-642C58B96CFF}"/>
              </a:ext>
            </a:extLst>
          </p:cNvPr>
          <p:cNvSpPr txBox="1"/>
          <p:nvPr/>
        </p:nvSpPr>
        <p:spPr>
          <a:xfrm>
            <a:off x="529218" y="16822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independent and not zero.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C760F3-8A97-45C3-8118-83578F1F7333}"/>
              </a:ext>
            </a:extLst>
          </p:cNvPr>
          <p:cNvSpPr txBox="1"/>
          <p:nvPr/>
        </p:nvSpPr>
        <p:spPr>
          <a:xfrm>
            <a:off x="545811" y="23918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  a curve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F348E7C-F105-4666-85E8-C9F09CDC4C44}"/>
                  </a:ext>
                </a:extLst>
              </p:cNvPr>
              <p:cNvSpPr txBox="1"/>
              <p:nvPr/>
            </p:nvSpPr>
            <p:spPr>
              <a:xfrm>
                <a:off x="545811" y="2854035"/>
                <a:ext cx="73969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Points on the curve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which is stationary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𝑑𝑔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F348E7C-F105-4666-85E8-C9F09CDC4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11" y="2854035"/>
                <a:ext cx="7396918" cy="369332"/>
              </a:xfrm>
              <a:prstGeom prst="rect">
                <a:avLst/>
              </a:prstGeom>
              <a:blipFill>
                <a:blip r:embed="rId7"/>
                <a:stretch>
                  <a:fillRect l="-74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EEE61B-82E2-4DAA-B3F3-AC77AE97CE8F}"/>
                  </a:ext>
                </a:extLst>
              </p:cNvPr>
              <p:cNvSpPr txBox="1"/>
              <p:nvPr/>
            </p:nvSpPr>
            <p:spPr>
              <a:xfrm>
                <a:off x="8278991" y="2773436"/>
                <a:ext cx="6212540" cy="53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dy=0.0</a:t>
                </a:r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EEE61B-82E2-4DAA-B3F3-AC77AE97C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991" y="2773436"/>
                <a:ext cx="6212540" cy="530530"/>
              </a:xfrm>
              <a:prstGeom prst="rect">
                <a:avLst/>
              </a:prstGeom>
              <a:blipFill>
                <a:blip r:embed="rId8"/>
                <a:stretch>
                  <a:fillRect b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CFBB842-FB07-4990-B795-7BBBCA53F156}"/>
                  </a:ext>
                </a:extLst>
              </p:cNvPr>
              <p:cNvSpPr txBox="1"/>
              <p:nvPr/>
            </p:nvSpPr>
            <p:spPr>
              <a:xfrm>
                <a:off x="745991" y="3483437"/>
                <a:ext cx="2519723" cy="768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CFBB842-FB07-4990-B795-7BBBCA53F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91" y="3483437"/>
                <a:ext cx="2519723" cy="7684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E5D0839-E54F-4034-97EF-DA62A6C9F912}"/>
                  </a:ext>
                </a:extLst>
              </p:cNvPr>
              <p:cNvSpPr txBox="1"/>
              <p:nvPr/>
            </p:nvSpPr>
            <p:spPr>
              <a:xfrm>
                <a:off x="7811095" y="4797936"/>
                <a:ext cx="6212540" cy="53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𝛿𝜂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=0.0</a:t>
                </a:r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E5D0839-E54F-4034-97EF-DA62A6C9F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095" y="4797936"/>
                <a:ext cx="6212540" cy="530530"/>
              </a:xfrm>
              <a:prstGeom prst="rect">
                <a:avLst/>
              </a:prstGeom>
              <a:blipFill>
                <a:blip r:embed="rId10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row: Right 31">
            <a:extLst>
              <a:ext uri="{FF2B5EF4-FFF2-40B4-BE49-F238E27FC236}">
                <a16:creationId xmlns:a16="http://schemas.microsoft.com/office/drawing/2014/main" id="{9C906A0F-2395-402D-9AB1-075B2F5B8930}"/>
              </a:ext>
            </a:extLst>
          </p:cNvPr>
          <p:cNvSpPr/>
          <p:nvPr/>
        </p:nvSpPr>
        <p:spPr>
          <a:xfrm>
            <a:off x="6096000" y="1071002"/>
            <a:ext cx="977153" cy="2497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67ABC12-FA42-487F-9025-C6B83C5B126A}"/>
                  </a:ext>
                </a:extLst>
              </p:cNvPr>
              <p:cNvSpPr txBox="1"/>
              <p:nvPr/>
            </p:nvSpPr>
            <p:spPr>
              <a:xfrm>
                <a:off x="4503729" y="3312988"/>
                <a:ext cx="7361852" cy="53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=0.0</a:t>
                </a:r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67ABC12-FA42-487F-9025-C6B83C5B1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29" y="3312988"/>
                <a:ext cx="7361852" cy="530530"/>
              </a:xfrm>
              <a:prstGeom prst="rect">
                <a:avLst/>
              </a:prstGeom>
              <a:blipFill>
                <a:blip r:embed="rId11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09A9993-A2EB-4DFD-97A4-5A2B0BEB806D}"/>
                  </a:ext>
                </a:extLst>
              </p:cNvPr>
              <p:cNvSpPr txBox="1"/>
              <p:nvPr/>
            </p:nvSpPr>
            <p:spPr>
              <a:xfrm>
                <a:off x="4503729" y="3802882"/>
                <a:ext cx="6212540" cy="53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=0.0</a:t>
                </a:r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09A9993-A2EB-4DFD-97A4-5A2B0BEB8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29" y="3802882"/>
                <a:ext cx="6212540" cy="530530"/>
              </a:xfrm>
              <a:prstGeom prst="rect">
                <a:avLst/>
              </a:prstGeom>
              <a:blipFill>
                <a:blip r:embed="rId12"/>
                <a:stretch>
                  <a:fillRect b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eft Brace 37">
            <a:extLst>
              <a:ext uri="{FF2B5EF4-FFF2-40B4-BE49-F238E27FC236}">
                <a16:creationId xmlns:a16="http://schemas.microsoft.com/office/drawing/2014/main" id="{44AFA2C1-042F-4BFB-AF10-29E92899BBB1}"/>
              </a:ext>
            </a:extLst>
          </p:cNvPr>
          <p:cNvSpPr/>
          <p:nvPr/>
        </p:nvSpPr>
        <p:spPr>
          <a:xfrm>
            <a:off x="4161453" y="3429000"/>
            <a:ext cx="342276" cy="80266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B4A6EBD9-FDE7-483A-AC90-0982A45C23E2}"/>
              </a:ext>
            </a:extLst>
          </p:cNvPr>
          <p:cNvSpPr/>
          <p:nvPr/>
        </p:nvSpPr>
        <p:spPr>
          <a:xfrm>
            <a:off x="4674296" y="4702476"/>
            <a:ext cx="342276" cy="802663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3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DBE9-AAF2-4DEF-888D-9D9289C03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0202" y="417428"/>
            <a:ext cx="5802107" cy="892389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of multistage Rocket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94DAA27-412A-4F3A-B137-82367F0ED0E2}"/>
                  </a:ext>
                </a:extLst>
              </p:cNvPr>
              <p:cNvSpPr txBox="1"/>
              <p:nvPr/>
            </p:nvSpPr>
            <p:spPr>
              <a:xfrm>
                <a:off x="475129" y="2525006"/>
                <a:ext cx="3292125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>
                  <a:buClr>
                    <a:srgbClr val="C00000"/>
                  </a:buClr>
                  <a:buFont typeface="Wingdings" panose="05000000000000000000" pitchFamily="2" charset="2"/>
                  <a:buChar char="§"/>
                </a:pPr>
                <a:r>
                  <a:rPr lang="en-US" sz="18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maximation of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  <m: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94DAA27-412A-4F3A-B137-82367F0ED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29" y="2525006"/>
                <a:ext cx="3292125" cy="472694"/>
              </a:xfrm>
              <a:prstGeom prst="rect">
                <a:avLst/>
              </a:prstGeom>
              <a:blipFill>
                <a:blip r:embed="rId2"/>
                <a:stretch>
                  <a:fillRect l="-1296" t="-1282"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6C49EE-C6FC-4510-8DE8-7EB42DE3122E}"/>
                  </a:ext>
                </a:extLst>
              </p:cNvPr>
              <p:cNvSpPr txBox="1"/>
              <p:nvPr/>
            </p:nvSpPr>
            <p:spPr>
              <a:xfrm>
                <a:off x="5898776" y="616114"/>
                <a:ext cx="2677271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𝑖𝑚𝑝</m:t>
                          </m:r>
                        </m:sub>
                      </m:sSub>
                      <m:r>
                        <a:rPr lang="fa-I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𝑠𝑝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6C49EE-C6FC-4510-8DE8-7EB42DE31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776" y="616114"/>
                <a:ext cx="2677271" cy="672172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E2A94B-75E0-46A3-BF37-FDF858FE3F39}"/>
                  </a:ext>
                </a:extLst>
              </p:cNvPr>
              <p:cNvSpPr txBox="1"/>
              <p:nvPr/>
            </p:nvSpPr>
            <p:spPr>
              <a:xfrm>
                <a:off x="1136324" y="1599155"/>
                <a:ext cx="1279453" cy="318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𝑖𝑚𝑝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=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E2A94B-75E0-46A3-BF37-FDF858FE3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324" y="1599155"/>
                <a:ext cx="1279453" cy="318164"/>
              </a:xfrm>
              <a:prstGeom prst="rect">
                <a:avLst/>
              </a:prstGeom>
              <a:blipFill>
                <a:blip r:embed="rId4"/>
                <a:stretch>
                  <a:fillRect l="-6667" t="-18868" r="-10000" b="-37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12FE67A-F289-4942-8313-30033224EF9B}"/>
                  </a:ext>
                </a:extLst>
              </p:cNvPr>
              <p:cNvSpPr txBox="1"/>
              <p:nvPr/>
            </p:nvSpPr>
            <p:spPr>
              <a:xfrm>
                <a:off x="4989667" y="1428358"/>
                <a:ext cx="3917577" cy="76450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𝑠𝑝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)(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12FE67A-F289-4942-8313-30033224E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667" y="1428358"/>
                <a:ext cx="3917577" cy="764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66DFA3B-6DC5-4F7D-A530-3F5B148A4DE5}"/>
                  </a:ext>
                </a:extLst>
              </p:cNvPr>
              <p:cNvSpPr txBox="1"/>
              <p:nvPr/>
            </p:nvSpPr>
            <p:spPr>
              <a:xfrm>
                <a:off x="4087107" y="2509682"/>
                <a:ext cx="1805119" cy="4862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  <m:r>
                              <a:rPr lang="en-US" sz="16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66DFA3B-6DC5-4F7D-A530-3F5B148A4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107" y="2509682"/>
                <a:ext cx="1805119" cy="486287"/>
              </a:xfrm>
              <a:prstGeom prst="rect">
                <a:avLst/>
              </a:prstGeom>
              <a:blipFill>
                <a:blip r:embed="rId6"/>
                <a:stretch>
                  <a:fillRect t="-63291" b="-10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6D0E6A-C10D-41E9-A099-0D8572679E68}"/>
                  </a:ext>
                </a:extLst>
              </p:cNvPr>
              <p:cNvSpPr txBox="1"/>
              <p:nvPr/>
            </p:nvSpPr>
            <p:spPr>
              <a:xfrm>
                <a:off x="6299776" y="2621954"/>
                <a:ext cx="6096000" cy="484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begChr m:val="["/>
                        <m:endChr m:val="]"/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1600" dirty="0"/>
                  <a:t>=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6D0E6A-C10D-41E9-A099-0D8572679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776" y="2621954"/>
                <a:ext cx="6096000" cy="4845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A6BB06-4709-4844-A910-81AB57E2AF01}"/>
                  </a:ext>
                </a:extLst>
              </p:cNvPr>
              <p:cNvSpPr txBox="1"/>
              <p:nvPr/>
            </p:nvSpPr>
            <p:spPr>
              <a:xfrm>
                <a:off x="8752079" y="2509682"/>
                <a:ext cx="2574972" cy="76450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A6BB06-4709-4844-A910-81AB57E2A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079" y="2509682"/>
                <a:ext cx="2574972" cy="7645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F634B6AF-E075-4DB0-A72F-9CB0245CC618}"/>
              </a:ext>
            </a:extLst>
          </p:cNvPr>
          <p:cNvSpPr txBox="1"/>
          <p:nvPr/>
        </p:nvSpPr>
        <p:spPr>
          <a:xfrm>
            <a:off x="475129" y="3804472"/>
            <a:ext cx="4577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use Lagrange multiplier for A and B then: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BD6A00-671A-4E15-B434-FC5ACAC5886F}"/>
              </a:ext>
            </a:extLst>
          </p:cNvPr>
          <p:cNvSpPr txBox="1"/>
          <p:nvPr/>
        </p:nvSpPr>
        <p:spPr>
          <a:xfrm>
            <a:off x="9159514" y="1599155"/>
            <a:ext cx="37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8E3BE0-8148-4982-8022-67CCB4CFCA24}"/>
              </a:ext>
            </a:extLst>
          </p:cNvPr>
          <p:cNvSpPr txBox="1"/>
          <p:nvPr/>
        </p:nvSpPr>
        <p:spPr>
          <a:xfrm>
            <a:off x="11435000" y="2790831"/>
            <a:ext cx="28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BC66475-88A8-4981-94A2-ABE0A06B6996}"/>
                  </a:ext>
                </a:extLst>
              </p:cNvPr>
              <p:cNvSpPr txBox="1"/>
              <p:nvPr/>
            </p:nvSpPr>
            <p:spPr>
              <a:xfrm>
                <a:off x="6455358" y="3904858"/>
                <a:ext cx="334424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(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𝑔𝑒𝑡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𝑚𝑖𝑛𝑖𝑚𝑎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BC66475-88A8-4981-94A2-ABE0A06B6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358" y="3904858"/>
                <a:ext cx="3344249" cy="246221"/>
              </a:xfrm>
              <a:prstGeom prst="rect">
                <a:avLst/>
              </a:prstGeom>
              <a:blipFill>
                <a:blip r:embed="rId9"/>
                <a:stretch>
                  <a:fillRect l="-1093" r="-1639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89ECAA9-5BAC-4EC6-83F7-FE8C4943D1F2}"/>
                  </a:ext>
                </a:extLst>
              </p:cNvPr>
              <p:cNvSpPr txBox="1"/>
              <p:nvPr/>
            </p:nvSpPr>
            <p:spPr>
              <a:xfrm>
                <a:off x="3464453" y="5034207"/>
                <a:ext cx="3272117" cy="47346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𝑠𝑝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89ECAA9-5BAC-4EC6-83F7-FE8C4943D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453" y="5034207"/>
                <a:ext cx="3272117" cy="473463"/>
              </a:xfrm>
              <a:prstGeom prst="rect">
                <a:avLst/>
              </a:prstGeom>
              <a:blipFill>
                <a:blip r:embed="rId10"/>
                <a:stretch>
                  <a:fillRect b="-379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C67B1DA-387F-485A-83A0-C6AE44986E56}"/>
                  </a:ext>
                </a:extLst>
              </p:cNvPr>
              <p:cNvSpPr txBox="1"/>
              <p:nvPr/>
            </p:nvSpPr>
            <p:spPr>
              <a:xfrm>
                <a:off x="448261" y="5081795"/>
                <a:ext cx="24057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independent :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C67B1DA-387F-485A-83A0-C6AE44986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61" y="5081795"/>
                <a:ext cx="2405723" cy="369332"/>
              </a:xfrm>
              <a:prstGeom prst="rect">
                <a:avLst/>
              </a:prstGeom>
              <a:blipFill>
                <a:blip r:embed="rId11"/>
                <a:stretch>
                  <a:fillRect l="-2284" t="-10000" r="-101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AD1C050-B10D-4FD0-AE46-DBEB5849D0A4}"/>
                  </a:ext>
                </a:extLst>
              </p:cNvPr>
              <p:cNvSpPr txBox="1"/>
              <p:nvPr/>
            </p:nvSpPr>
            <p:spPr>
              <a:xfrm>
                <a:off x="3506816" y="5769021"/>
                <a:ext cx="2965702" cy="58266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a-I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b>
                            <m:sSubPr>
                              <m:ctrlPr>
                                <a:rPr lang="fa-I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𝑠𝑝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AD1C050-B10D-4FD0-AE46-DBEB5849D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816" y="5769021"/>
                <a:ext cx="2965702" cy="58266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3626F3E6-E99A-4321-BD1B-68F5A33AD09B}"/>
              </a:ext>
            </a:extLst>
          </p:cNvPr>
          <p:cNvSpPr txBox="1"/>
          <p:nvPr/>
        </p:nvSpPr>
        <p:spPr>
          <a:xfrm>
            <a:off x="7496466" y="5063560"/>
            <a:ext cx="376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B0F90C-1D23-4078-9163-7978E380B94A}"/>
              </a:ext>
            </a:extLst>
          </p:cNvPr>
          <p:cNvSpPr txBox="1"/>
          <p:nvPr/>
        </p:nvSpPr>
        <p:spPr>
          <a:xfrm>
            <a:off x="6992470" y="5973500"/>
            <a:ext cx="503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E48F232F-5169-4782-A7E6-4415AD3D20ED}"/>
              </a:ext>
            </a:extLst>
          </p:cNvPr>
          <p:cNvSpPr/>
          <p:nvPr/>
        </p:nvSpPr>
        <p:spPr>
          <a:xfrm>
            <a:off x="3004457" y="1631465"/>
            <a:ext cx="1158419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4B1E1536-EE5E-4A93-A5E7-7B8B5B9F123B}"/>
              </a:ext>
            </a:extLst>
          </p:cNvPr>
          <p:cNvSpPr/>
          <p:nvPr/>
        </p:nvSpPr>
        <p:spPr>
          <a:xfrm>
            <a:off x="7596026" y="2713796"/>
            <a:ext cx="748503" cy="315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50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B52B85-A30C-4D17-9783-85216CF04B6E}"/>
                  </a:ext>
                </a:extLst>
              </p:cNvPr>
              <p:cNvSpPr txBox="1"/>
              <p:nvPr/>
            </p:nvSpPr>
            <p:spPr>
              <a:xfrm>
                <a:off x="475746" y="780113"/>
                <a:ext cx="609600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rgbClr val="C00000"/>
                  </a:buClr>
                  <a:buFont typeface="Wingdings" panose="05000000000000000000" pitchFamily="2" charset="2"/>
                  <a:buChar char="§"/>
                </a:pP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obtain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𝑖𝑚𝑝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B52B85-A30C-4D17-9783-85216CF04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46" y="780113"/>
                <a:ext cx="6096000" cy="390748"/>
              </a:xfrm>
              <a:prstGeom prst="rect">
                <a:avLst/>
              </a:prstGeom>
              <a:blipFill>
                <a:blip r:embed="rId2"/>
                <a:stretch>
                  <a:fillRect l="-600" t="-9375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A28B5A-35CC-4B1F-8C7B-44D2656B900B}"/>
                  </a:ext>
                </a:extLst>
              </p:cNvPr>
              <p:cNvSpPr txBox="1"/>
              <p:nvPr/>
            </p:nvSpPr>
            <p:spPr>
              <a:xfrm>
                <a:off x="5062422" y="723647"/>
                <a:ext cx="2677271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𝑖𝑚𝑝</m:t>
                          </m:r>
                        </m:sub>
                      </m:sSub>
                      <m:r>
                        <a:rPr lang="fa-I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𝑠𝑝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A28B5A-35CC-4B1F-8C7B-44D2656B9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422" y="723647"/>
                <a:ext cx="2677271" cy="6721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7E9BA38-6DC9-478B-A235-D4FF7BDF25A4}"/>
                  </a:ext>
                </a:extLst>
              </p:cNvPr>
              <p:cNvSpPr txBox="1"/>
              <p:nvPr/>
            </p:nvSpPr>
            <p:spPr>
              <a:xfrm>
                <a:off x="373950" y="1968000"/>
                <a:ext cx="4217308" cy="904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𝑖𝑚𝑝</m:t>
                          </m:r>
                        </m:sub>
                      </m:sSub>
                      <m:r>
                        <a:rPr lang="fa-I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𝑠𝑝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a-I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a-I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a-I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𝑠𝑝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num>
                            <m:den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a-I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a-I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a-I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𝑠𝑝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7E9BA38-6DC9-478B-A235-D4FF7BDF2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50" y="1968000"/>
                <a:ext cx="4217308" cy="9044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50B39F-50F5-459E-9F19-F3B6652F8B36}"/>
                  </a:ext>
                </a:extLst>
              </p:cNvPr>
              <p:cNvSpPr txBox="1"/>
              <p:nvPr/>
            </p:nvSpPr>
            <p:spPr>
              <a:xfrm>
                <a:off x="6376109" y="1956377"/>
                <a:ext cx="6096000" cy="996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a-IR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a-IR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a-I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a-I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𝑖𝑚𝑝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⁡(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a-I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a-I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a-I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𝑠𝑝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a-I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a-I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a-I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𝑠𝑝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50B39F-50F5-459E-9F19-F3B6652F8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109" y="1956377"/>
                <a:ext cx="6096000" cy="9967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D801C2F-7A8E-4F1D-B740-BFFCCD66E9BE}"/>
                  </a:ext>
                </a:extLst>
              </p:cNvPr>
              <p:cNvSpPr txBox="1"/>
              <p:nvPr/>
            </p:nvSpPr>
            <p:spPr>
              <a:xfrm>
                <a:off x="811536" y="3228524"/>
                <a:ext cx="6096000" cy="835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a-IR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a-I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nary>
                            <m:naryPr>
                              <m:chr m:val="∑"/>
                              <m:ctrlPr>
                                <a:rPr lang="fa-I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f>
                                    <m:f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a-I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a-IR" sz="1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fa-I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𝑠𝑝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den>
                                      </m:f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a-I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a-IR" sz="1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fa-I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𝑠𝑝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den>
                                      </m:f>
                                    </m:den>
                                  </m:f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fa-I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fa-I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𝑠𝑝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𝑖𝑚𝑝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sup>
                              </m:sSup>
                            </m:e>
                          </m:nary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D801C2F-7A8E-4F1D-B740-BFFCCD66E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36" y="3228524"/>
                <a:ext cx="6096000" cy="835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BF8C401-8343-4A3E-8181-7F081002BEA5}"/>
                  </a:ext>
                </a:extLst>
              </p:cNvPr>
              <p:cNvSpPr txBox="1"/>
              <p:nvPr/>
            </p:nvSpPr>
            <p:spPr>
              <a:xfrm>
                <a:off x="6138583" y="3101945"/>
                <a:ext cx="6243916" cy="928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a-IR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a-I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∏"/>
                              <m:ctrlPr>
                                <a:rPr lang="fa-IR" sz="1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a-I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a-I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fa-I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a-IR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fa-I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𝑠𝑝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  <m:sup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a-I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a-I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𝑖𝑚𝑝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BF8C401-8343-4A3E-8181-7F081002B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583" y="3101945"/>
                <a:ext cx="6243916" cy="9282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9BBA9CB-5370-4704-B7B8-461A6D9F602B}"/>
                  </a:ext>
                </a:extLst>
              </p:cNvPr>
              <p:cNvSpPr txBox="1"/>
              <p:nvPr/>
            </p:nvSpPr>
            <p:spPr>
              <a:xfrm>
                <a:off x="683559" y="4780993"/>
                <a:ext cx="8576982" cy="73096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a-IR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fa-IR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a-IR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a-I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a-I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𝑠𝑝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  <m:sup>
                            <m:f>
                              <m:f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a-I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a-I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𝑠𝑝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𝑖𝑚𝑝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fa-IR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fa-IR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a-I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a-I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a-I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𝑠𝑝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  <m:sup>
                            <m:f>
                              <m:f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a-I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a-I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𝑠𝑝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𝑖𝑚𝑝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en-US" sz="1600" dirty="0"/>
                  <a:t>………..</a:t>
                </a:r>
                <a:r>
                  <a:rPr lang="fa-IR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fa-IR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a-I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a-I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a-I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𝑠𝑝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  <m:sup>
                            <m:f>
                              <m:f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a-I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a-I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𝑠𝑝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𝑖𝑚𝑝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=e=2.718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9BBA9CB-5370-4704-B7B8-461A6D9F6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9" y="4780993"/>
                <a:ext cx="8576982" cy="7309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row: Right 31">
            <a:extLst>
              <a:ext uri="{FF2B5EF4-FFF2-40B4-BE49-F238E27FC236}">
                <a16:creationId xmlns:a16="http://schemas.microsoft.com/office/drawing/2014/main" id="{578F108A-28B6-4950-B9D4-BB9681C66E41}"/>
              </a:ext>
            </a:extLst>
          </p:cNvPr>
          <p:cNvSpPr/>
          <p:nvPr/>
        </p:nvSpPr>
        <p:spPr>
          <a:xfrm>
            <a:off x="8519039" y="975487"/>
            <a:ext cx="2043214" cy="277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BC70323-196B-419A-9255-AE03A3D6CD97}"/>
                  </a:ext>
                </a:extLst>
              </p:cNvPr>
              <p:cNvSpPr txBox="1"/>
              <p:nvPr/>
            </p:nvSpPr>
            <p:spPr>
              <a:xfrm>
                <a:off x="8966718" y="587829"/>
                <a:ext cx="11889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Replacing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BC70323-196B-419A-9255-AE03A3D6C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718" y="587829"/>
                <a:ext cx="1188980" cy="338554"/>
              </a:xfrm>
              <a:prstGeom prst="rect">
                <a:avLst/>
              </a:prstGeom>
              <a:blipFill>
                <a:blip r:embed="rId9"/>
                <a:stretch>
                  <a:fillRect l="-1538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Arrow: Right 45">
            <a:extLst>
              <a:ext uri="{FF2B5EF4-FFF2-40B4-BE49-F238E27FC236}">
                <a16:creationId xmlns:a16="http://schemas.microsoft.com/office/drawing/2014/main" id="{49DD4552-50FB-4D1D-BF38-7B76FD09E3CC}"/>
              </a:ext>
            </a:extLst>
          </p:cNvPr>
          <p:cNvSpPr/>
          <p:nvPr/>
        </p:nvSpPr>
        <p:spPr>
          <a:xfrm>
            <a:off x="5490660" y="2454700"/>
            <a:ext cx="1578143" cy="1640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1E2EC98-1002-465C-975F-9B5658203E5A}"/>
                  </a:ext>
                </a:extLst>
              </p:cNvPr>
              <p:cNvSpPr txBox="1"/>
              <p:nvPr/>
            </p:nvSpPr>
            <p:spPr>
              <a:xfrm>
                <a:off x="5802182" y="2051515"/>
                <a:ext cx="1105354" cy="324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𝑖𝑚𝑝</m:t>
                        </m:r>
                      </m:sub>
                    </m:sSub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1E2EC98-1002-465C-975F-9B5658203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182" y="2051515"/>
                <a:ext cx="1105354" cy="324384"/>
              </a:xfrm>
              <a:prstGeom prst="rect">
                <a:avLst/>
              </a:prstGeom>
              <a:blipFill>
                <a:blip r:embed="rId10"/>
                <a:stretch>
                  <a:fillRect l="-1657" t="-3774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Arrow: Right 48">
            <a:extLst>
              <a:ext uri="{FF2B5EF4-FFF2-40B4-BE49-F238E27FC236}">
                <a16:creationId xmlns:a16="http://schemas.microsoft.com/office/drawing/2014/main" id="{B6E48F1A-87D2-4A02-A26E-58682E354159}"/>
              </a:ext>
            </a:extLst>
          </p:cNvPr>
          <p:cNvSpPr/>
          <p:nvPr/>
        </p:nvSpPr>
        <p:spPr>
          <a:xfrm>
            <a:off x="753820" y="3782918"/>
            <a:ext cx="851046" cy="249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73CA1D-61AE-44E9-9E8C-296BA54F513A}"/>
              </a:ext>
            </a:extLst>
          </p:cNvPr>
          <p:cNvSpPr txBox="1"/>
          <p:nvPr/>
        </p:nvSpPr>
        <p:spPr>
          <a:xfrm>
            <a:off x="984012" y="3475141"/>
            <a:ext cx="1105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71DFEE18-0BD6-4B29-B973-73D14967480B}"/>
              </a:ext>
            </a:extLst>
          </p:cNvPr>
          <p:cNvSpPr/>
          <p:nvPr/>
        </p:nvSpPr>
        <p:spPr>
          <a:xfrm>
            <a:off x="5874789" y="3612406"/>
            <a:ext cx="1297338" cy="1640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7347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921</TotalTime>
  <Words>478</Words>
  <Application>Microsoft Office PowerPoint</Application>
  <PresentationFormat>Widescreen</PresentationFormat>
  <Paragraphs>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Cambria Math</vt:lpstr>
      <vt:lpstr>Corbel</vt:lpstr>
      <vt:lpstr>Times New Roman</vt:lpstr>
      <vt:lpstr>Wingdings</vt:lpstr>
      <vt:lpstr>Basis</vt:lpstr>
      <vt:lpstr>Section 2-Rocket Performance  </vt:lpstr>
      <vt:lpstr>Sounding Rocket Altitude Equation: </vt:lpstr>
      <vt:lpstr>Chemical Rockets:</vt:lpstr>
      <vt:lpstr>PowerPoint Presentation</vt:lpstr>
      <vt:lpstr>Lagrange multiplier</vt:lpstr>
      <vt:lpstr>Optimization of multistage Rocket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</dc:creator>
  <cp:lastModifiedBy>Roohi Golkhatmi, Ehsan</cp:lastModifiedBy>
  <cp:revision>59</cp:revision>
  <dcterms:created xsi:type="dcterms:W3CDTF">2024-07-31T20:56:00Z</dcterms:created>
  <dcterms:modified xsi:type="dcterms:W3CDTF">2024-09-01T16:36:25Z</dcterms:modified>
</cp:coreProperties>
</file>