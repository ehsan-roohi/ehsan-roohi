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71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4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56C4D86-F01B-4C51-9609-7BFC16DA573D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283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86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588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8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552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10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4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71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831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879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C4D86-F01B-4C51-9609-7BFC16DA573D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779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C56C4D86-F01B-4C51-9609-7BFC16DA573D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F4B397A7-6766-4A38-9B6C-3494EA3D0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718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69421-45CE-4249-8D36-3BC6C15BFB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electrical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ROCKETS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D81025-24F6-4F5E-ABE2-880F1CA226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783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C28FE6-0024-402B-9FE6-A51134F1BBFF}"/>
              </a:ext>
            </a:extLst>
          </p:cNvPr>
          <p:cNvSpPr txBox="1"/>
          <p:nvPr/>
        </p:nvSpPr>
        <p:spPr>
          <a:xfrm>
            <a:off x="2674195" y="3789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Electric Rockets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DAB858-7E7D-4A7E-86E0-F0E5A110341B}"/>
                  </a:ext>
                </a:extLst>
              </p:cNvPr>
              <p:cNvSpPr txBox="1"/>
              <p:nvPr/>
            </p:nvSpPr>
            <p:spPr>
              <a:xfrm>
                <a:off x="535642" y="833498"/>
                <a:ext cx="6987988" cy="41324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b="1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Thruster efficiency </a:t>
                </a:r>
                <a14:m>
                  <m:oMath xmlns:m="http://schemas.openxmlformats.org/officeDocument/2006/math">
                    <m:r>
                      <a:rPr lang="en-US" sz="1600" b="1" i="0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               </m:t>
                    </m:r>
                    <m:r>
                      <m:rPr>
                        <m:sty m:val="p"/>
                      </m:rPr>
                      <a:rPr lang="en-US" sz="16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η</m:t>
                    </m:r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2</m:t>
                            </m:r>
                          </m:den>
                        </m:f>
                        <m:acc>
                          <m:accPr>
                            <m:chr m:val="̇"/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𝑚</m:t>
                            </m:r>
                          </m:e>
                        </m:acc>
                        <m:sSubSup>
                          <m:sSubSup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sub>
                          <m:sup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𝐸𝑃</m:t>
                        </m:r>
                      </m:den>
                    </m:f>
                  </m:oMath>
                </a14:m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b="1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Thruster specific mass </a:t>
                </a:r>
                <a14:m>
                  <m:oMath xmlns:m="http://schemas.openxmlformats.org/officeDocument/2006/math">
                    <m:r>
                      <a:rPr lang="en-US" sz="1600" b="1" i="0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         </m:t>
                    </m:r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𝐸𝑃</m:t>
                            </m:r>
                          </m:sub>
                        </m:s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𝑆</m:t>
                            </m:r>
                          </m:sub>
                        </m:sSub>
                      </m:num>
                      <m:den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𝐸𝑃</m:t>
                        </m:r>
                      </m:den>
                    </m:f>
                  </m:oMath>
                </a14:m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𝑀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𝑀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𝐿</m:t>
                        </m:r>
                      </m:sub>
                    </m:sSub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𝑀</m:t>
                        </m:r>
                      </m:e>
                      <m:sub>
                        <m: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sub>
                    </m:sSub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𝑀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𝑆</m:t>
                        </m:r>
                      </m:sub>
                    </m:sSub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+</m:t>
                    </m:r>
                  </m:oMath>
                </a14:m>
                <a:r>
                  <a:rPr lang="en-US" sz="1600" kern="100" dirty="0"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𝑀</m:t>
                        </m:r>
                      </m:e>
                      <m:sub>
                        <m: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𝐸𝑃</m:t>
                        </m:r>
                      </m:sub>
                    </m:sSub>
                  </m:oMath>
                </a14:m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𝑀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</m:sSub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𝑀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−</m:t>
                    </m:r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𝑀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𝐼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𝑠𝑝</m:t>
                        </m:r>
                      </m:sub>
                    </m:sSub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∆</m:t>
                    </m:r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</m:sSub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𝑒</m:t>
                        </m:r>
                      </m:sub>
                    </m:sSub>
                    <m:func>
                      <m:func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b="1" kern="10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payload</m:t>
                    </m:r>
                    <m:r>
                      <m:rPr>
                        <m:nor/>
                      </m:rPr>
                      <a:rPr lang="en-US" sz="1600" b="1" kern="10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b="1" kern="10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mass</m:t>
                    </m:r>
                    <m:r>
                      <m:rPr>
                        <m:nor/>
                      </m:rPr>
                      <a:rPr lang="en-US" sz="1600" b="1" kern="10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b="1" kern="100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ratio</m:t>
                    </m:r>
                    <m:r>
                      <a:rPr lang="en-US" sz="1600" b="1" i="1" kern="100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  <m:f>
                      <m:f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1+</m:t>
                        </m:r>
                        <m:f>
                          <m:f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𝛼</m:t>
                            </m:r>
                            <m:sSubSup>
                              <m:sSubSupPr>
                                <m:ctrlP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𝑒</m:t>
                                </m:r>
                              </m:sub>
                              <m:sup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𝜂</m:t>
                            </m:r>
                            <m:sSub>
                              <m:sSubPr>
                                <m:ctrlP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sub>
                            </m:sSub>
                          </m:den>
                        </m:f>
                      </m:e>
                    </m:d>
                    <m:sSup>
                      <m:sSup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𝑒</m:t>
                                </m:r>
                              </m:sub>
                            </m:sSub>
                          </m:den>
                        </m:f>
                      </m:sup>
                    </m:sSup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−</m:t>
                    </m:r>
                    <m:f>
                      <m:f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𝛼</m:t>
                        </m:r>
                        <m:sSubSup>
                          <m:sSubSup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sub>
                          <m:sup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𝜂</m:t>
                        </m:r>
                        <m:sSub>
                          <m:sSub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16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DAB858-7E7D-4A7E-86E0-F0E5A1103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42" y="833498"/>
                <a:ext cx="6987988" cy="4132478"/>
              </a:xfrm>
              <a:prstGeom prst="rect">
                <a:avLst/>
              </a:prstGeom>
              <a:blipFill>
                <a:blip r:embed="rId2"/>
                <a:stretch>
                  <a:fillRect l="-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64E11E-A556-453B-8FBE-577DFF1AE0D4}"/>
                  </a:ext>
                </a:extLst>
              </p:cNvPr>
              <p:cNvSpPr txBox="1"/>
              <p:nvPr/>
            </p:nvSpPr>
            <p:spPr>
              <a:xfrm>
                <a:off x="5556699" y="4398471"/>
                <a:ext cx="6987988" cy="5085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sz="180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𝛼</m:t>
                        </m:r>
                      </m:num>
                      <m:den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𝜂</m:t>
                        </m:r>
                      </m:den>
                    </m:f>
                  </m:oMath>
                </a14:m>
                <a:r>
                  <a:rPr lang="en-US" sz="1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800" b="0" i="0" kern="100" dirty="0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</m:t>
                    </m:r>
                    <m:f>
                      <m:fPr>
                        <m:ctrlPr>
                          <a:rPr lang="en-US" sz="1800" i="1" kern="100" dirty="0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i="1" kern="100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𝑘𝑔</m:t>
                        </m:r>
                      </m:num>
                      <m:den>
                        <m:r>
                          <a:rPr lang="en-US" i="1" kern="100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den>
                    </m:f>
                  </m:oMath>
                </a14:m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64E11E-A556-453B-8FBE-577DFF1AE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6699" y="4398471"/>
                <a:ext cx="6987988" cy="508537"/>
              </a:xfrm>
              <a:prstGeom prst="rect">
                <a:avLst/>
              </a:prstGeom>
              <a:blipFill>
                <a:blip r:embed="rId3"/>
                <a:stretch>
                  <a:fillRect b="-3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F7C169-B935-4A73-BF47-324D2A9A0E20}"/>
                  </a:ext>
                </a:extLst>
              </p:cNvPr>
              <p:cNvSpPr txBox="1"/>
              <p:nvPr/>
            </p:nvSpPr>
            <p:spPr>
              <a:xfrm>
                <a:off x="535642" y="5005208"/>
                <a:ext cx="9914644" cy="20507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𝜂</m:t>
                            </m:r>
                            <m:sSub>
                              <m:sSub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𝛼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sz="1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</a:t>
                </a: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endParaRPr lang="en-US" sz="180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𝑰</m:t>
                        </m:r>
                      </m:e>
                      <m:sub>
                        <m:r>
                          <a:rPr lang="en-US" sz="16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𝒔𝒑</m:t>
                        </m:r>
                      </m:sub>
                    </m:sSub>
                  </m:oMath>
                </a14:m>
                <a:r>
                  <a:rPr lang="en-US" sz="1600" b="1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for maximum payload ratio </a:t>
                </a: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         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sub>
                        </m:sSub>
                      </m:num>
                      <m:den>
                        <m: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𝑏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n-US" sz="1600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∆</m:t>
                                </m:r>
                                <m:sSub>
                                  <m:sSubPr>
                                    <m:ctrlPr>
                                      <a:rPr lang="en-US" sz="1600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1600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𝑏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1600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𝑒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  <m: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e>
                    </m:d>
                    <m:r>
                      <a:rPr lang="en-US" sz="16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−</m:t>
                    </m:r>
                    <m:f>
                      <m:fPr>
                        <m:ctrlP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𝜂</m:t>
                        </m:r>
                        <m:sSub>
                          <m:sSubPr>
                            <m:ctrlPr>
                              <a:rPr lang="en-US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𝛼</m:t>
                        </m:r>
                        <m:sSubSup>
                          <m:sSubSupPr>
                            <m:ctrlPr>
                              <a:rPr lang="en-US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sub>
                          <m:sup>
                            <m:r>
                              <a:rPr lang="en-US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sz="16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−</m:t>
                    </m:r>
                    <m:f>
                      <m:fPr>
                        <m:ctrlP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r>
                      <a:rPr lang="en-US" sz="16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=0</m:t>
                    </m:r>
                  </m:oMath>
                </a14:m>
                <a:r>
                  <a:rPr lang="en-US" sz="1600" kern="1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18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</a:t>
                </a:r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F7C169-B935-4A73-BF47-324D2A9A0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42" y="5005208"/>
                <a:ext cx="9914644" cy="20507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E8CFB626-B92F-4A4C-AB50-F97FF8260E6E}"/>
              </a:ext>
            </a:extLst>
          </p:cNvPr>
          <p:cNvSpPr txBox="1"/>
          <p:nvPr/>
        </p:nvSpPr>
        <p:spPr>
          <a:xfrm>
            <a:off x="6205155" y="5381159"/>
            <a:ext cx="73945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payload mass fraction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B16DCF-7C47-4509-9883-768EF6DAF6DF}"/>
              </a:ext>
            </a:extLst>
          </p:cNvPr>
          <p:cNvSpPr/>
          <p:nvPr/>
        </p:nvSpPr>
        <p:spPr>
          <a:xfrm>
            <a:off x="5440759" y="5766785"/>
            <a:ext cx="333074" cy="5154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07D3F7B-8AC2-4626-99A7-AD822D4E3D50}"/>
              </a:ext>
            </a:extLst>
          </p:cNvPr>
          <p:cNvCxnSpPr>
            <a:cxnSpLocks/>
          </p:cNvCxnSpPr>
          <p:nvPr/>
        </p:nvCxnSpPr>
        <p:spPr>
          <a:xfrm flipV="1">
            <a:off x="5722195" y="5588119"/>
            <a:ext cx="482960" cy="148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E1ACA258-9A97-4445-A04D-DAC352F9E1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1434" y="2900545"/>
            <a:ext cx="1226926" cy="205758"/>
          </a:xfrm>
          <a:prstGeom prst="rect">
            <a:avLst/>
          </a:prstGeom>
        </p:spPr>
      </p:pic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622EBA3B-E0AD-4902-AB77-35D89FE85627}"/>
              </a:ext>
            </a:extLst>
          </p:cNvPr>
          <p:cNvCxnSpPr>
            <a:cxnSpLocks/>
          </p:cNvCxnSpPr>
          <p:nvPr/>
        </p:nvCxnSpPr>
        <p:spPr>
          <a:xfrm>
            <a:off x="3123632" y="2328151"/>
            <a:ext cx="422001" cy="5273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CC3327C7-9D4F-4826-9C58-C1D6C764BFFB}"/>
              </a:ext>
            </a:extLst>
          </p:cNvPr>
          <p:cNvCxnSpPr>
            <a:cxnSpLocks/>
          </p:cNvCxnSpPr>
          <p:nvPr/>
        </p:nvCxnSpPr>
        <p:spPr>
          <a:xfrm rot="16200000" flipH="1">
            <a:off x="2400586" y="2493012"/>
            <a:ext cx="361696" cy="28301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8C1AF69-9E6B-47EB-9FEC-943466521610}"/>
              </a:ext>
            </a:extLst>
          </p:cNvPr>
          <p:cNvSpPr txBox="1"/>
          <p:nvPr/>
        </p:nvSpPr>
        <p:spPr>
          <a:xfrm>
            <a:off x="3635070" y="2216867"/>
            <a:ext cx="2995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 of power plant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122CB3D-4C94-49BA-B004-57CF19AA736C}"/>
                  </a:ext>
                </a:extLst>
              </p:cNvPr>
              <p:cNvSpPr txBox="1"/>
              <p:nvPr/>
            </p:nvSpPr>
            <p:spPr>
              <a:xfrm>
                <a:off x="4511351" y="3598034"/>
                <a:ext cx="1078116" cy="5320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122CB3D-4C94-49BA-B004-57CF19AA7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351" y="3598034"/>
                <a:ext cx="1078116" cy="5320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Oval 36">
            <a:extLst>
              <a:ext uri="{FF2B5EF4-FFF2-40B4-BE49-F238E27FC236}">
                <a16:creationId xmlns:a16="http://schemas.microsoft.com/office/drawing/2014/main" id="{C68E64CA-FB6E-4F51-AC16-91C3E970F3EB}"/>
              </a:ext>
            </a:extLst>
          </p:cNvPr>
          <p:cNvSpPr/>
          <p:nvPr/>
        </p:nvSpPr>
        <p:spPr>
          <a:xfrm>
            <a:off x="3808360" y="4196531"/>
            <a:ext cx="465934" cy="5581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49CBB4C-FF87-4E36-B0A0-0B3243B7B612}"/>
              </a:ext>
            </a:extLst>
          </p:cNvPr>
          <p:cNvCxnSpPr/>
          <p:nvPr/>
        </p:nvCxnSpPr>
        <p:spPr>
          <a:xfrm>
            <a:off x="5893256" y="4652739"/>
            <a:ext cx="2027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C8AAE13F-3209-4C4D-9BE5-603B1D65E6CD}"/>
              </a:ext>
            </a:extLst>
          </p:cNvPr>
          <p:cNvCxnSpPr>
            <a:cxnSpLocks/>
          </p:cNvCxnSpPr>
          <p:nvPr/>
        </p:nvCxnSpPr>
        <p:spPr>
          <a:xfrm flipV="1">
            <a:off x="4041327" y="3869094"/>
            <a:ext cx="438275" cy="232360"/>
          </a:xfrm>
          <a:prstGeom prst="curvedConnector3">
            <a:avLst>
              <a:gd name="adj1" fmla="val 180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723464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422</TotalTime>
  <Words>84</Words>
  <Application>Microsoft Office PowerPoint</Application>
  <PresentationFormat>Widescreen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Calibri</vt:lpstr>
      <vt:lpstr>Cambria Math</vt:lpstr>
      <vt:lpstr>Corbel</vt:lpstr>
      <vt:lpstr>Times New Roman</vt:lpstr>
      <vt:lpstr>Basis</vt:lpstr>
      <vt:lpstr>electrical ROCKETS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Hamid</dc:creator>
  <cp:lastModifiedBy>Roohi Golkhatmi, Ehsan</cp:lastModifiedBy>
  <cp:revision>46</cp:revision>
  <dcterms:created xsi:type="dcterms:W3CDTF">2024-10-05T20:41:39Z</dcterms:created>
  <dcterms:modified xsi:type="dcterms:W3CDTF">2024-11-30T21:28:54Z</dcterms:modified>
</cp:coreProperties>
</file>