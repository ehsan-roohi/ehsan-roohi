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2" r:id="rId1"/>
  </p:sldMasterIdLst>
  <p:sldIdLst>
    <p:sldId id="256" r:id="rId2"/>
    <p:sldId id="258" r:id="rId3"/>
    <p:sldId id="263" r:id="rId4"/>
    <p:sldId id="264" r:id="rId5"/>
    <p:sldId id="265" r:id="rId6"/>
    <p:sldId id="266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mid" initials="H" lastIdx="1" clrIdx="0">
    <p:extLst>
      <p:ext uri="{19B8F6BF-5375-455C-9EA6-DF929625EA0E}">
        <p15:presenceInfo xmlns:p15="http://schemas.microsoft.com/office/powerpoint/2012/main" userId="Hamid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48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D034EA4-F4FA-4879-89CA-F39062D7C7EC}" type="datetimeFigureOut">
              <a:rPr lang="en-US" smtClean="0"/>
              <a:t>9/7/2024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752FAED-51C8-4559-935A-C6C651BA1CB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6942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34EA4-F4FA-4879-89CA-F39062D7C7EC}" type="datetimeFigureOut">
              <a:rPr lang="en-US" smtClean="0"/>
              <a:t>9/7/2024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FAED-51C8-4559-935A-C6C651BA1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006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34EA4-F4FA-4879-89CA-F39062D7C7EC}" type="datetimeFigureOut">
              <a:rPr lang="en-US" smtClean="0"/>
              <a:t>9/7/2024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FAED-51C8-4559-935A-C6C651BA1CB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3776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34EA4-F4FA-4879-89CA-F39062D7C7EC}" type="datetimeFigureOut">
              <a:rPr lang="en-US" smtClean="0"/>
              <a:t>9/7/2024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FAED-51C8-4559-935A-C6C651BA1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786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34EA4-F4FA-4879-89CA-F39062D7C7EC}" type="datetimeFigureOut">
              <a:rPr lang="en-US" smtClean="0"/>
              <a:t>9/7/2024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FAED-51C8-4559-935A-C6C651BA1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906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34EA4-F4FA-4879-89CA-F39062D7C7EC}" type="datetimeFigureOut">
              <a:rPr lang="en-US" smtClean="0"/>
              <a:t>9/7/2024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FAED-51C8-4559-935A-C6C651BA1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732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34EA4-F4FA-4879-89CA-F39062D7C7EC}" type="datetimeFigureOut">
              <a:rPr lang="en-US" smtClean="0"/>
              <a:t>9/7/2024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FAED-51C8-4559-935A-C6C651BA1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078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34EA4-F4FA-4879-89CA-F39062D7C7EC}" type="datetimeFigureOut">
              <a:rPr lang="en-US" smtClean="0"/>
              <a:t>9/7/2024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FAED-51C8-4559-935A-C6C651BA1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434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34EA4-F4FA-4879-89CA-F39062D7C7EC}" type="datetimeFigureOut">
              <a:rPr lang="en-US" smtClean="0"/>
              <a:t>9/7/2024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FAED-51C8-4559-935A-C6C651BA1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173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34EA4-F4FA-4879-89CA-F39062D7C7EC}" type="datetimeFigureOut">
              <a:rPr lang="en-US" smtClean="0"/>
              <a:t>9/7/2024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FAED-51C8-4559-935A-C6C651BA1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71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34EA4-F4FA-4879-89CA-F39062D7C7EC}" type="datetimeFigureOut">
              <a:rPr lang="en-US" smtClean="0"/>
              <a:t>9/7/2024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FAED-51C8-4559-935A-C6C651BA1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698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7D034EA4-F4FA-4879-89CA-F39062D7C7EC}" type="datetimeFigureOut">
              <a:rPr lang="en-US" smtClean="0"/>
              <a:t>9/7/2024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6752FAED-51C8-4559-935A-C6C651BA1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4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emf"/><Relationship Id="rId7" Type="http://schemas.openxmlformats.org/officeDocument/2006/relationships/image" Target="../media/image34.png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emf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00728-12A4-4D82-B445-B16279969F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2519" y="864447"/>
            <a:ext cx="10509209" cy="2926080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Autofit/>
          </a:bodyPr>
          <a:lstStyle/>
          <a:p>
            <a:pPr algn="l"/>
            <a:r>
              <a:rPr lang="en-US" sz="240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</a:t>
            </a:r>
            <a:r>
              <a:rPr lang="fa-IR" sz="240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a-I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review of thermodynamics and gas </a:t>
            </a:r>
            <a:r>
              <a:rPr lang="en-US" sz="240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dyanmics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0176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63D1A-369B-4AC5-A2DE-BCA7D2045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240" y="362504"/>
            <a:ext cx="4930660" cy="369332"/>
          </a:xfrm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Autofit/>
          </a:bodyPr>
          <a:lstStyle/>
          <a:p>
            <a:pPr algn="ctr"/>
            <a:r>
              <a:rPr lang="en-US" sz="2000" b="1" i="0" u="none" strike="noStrike" baseline="0" dirty="0">
                <a:solidFill>
                  <a:srgbClr val="CD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 1-D, steady flow of a perfect gas: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816089-9146-4A75-BFCE-737F9434CDD5}"/>
              </a:ext>
            </a:extLst>
          </p:cNvPr>
          <p:cNvSpPr txBox="1"/>
          <p:nvPr/>
        </p:nvSpPr>
        <p:spPr>
          <a:xfrm>
            <a:off x="514185" y="959517"/>
            <a:ext cx="6096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400050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Continuity equation</a:t>
            </a:r>
          </a:p>
          <a:p>
            <a:pPr marL="400050" indent="-400050">
              <a:buClr>
                <a:schemeClr val="accent1"/>
              </a:buClr>
              <a:buFont typeface="Wingdings" panose="05000000000000000000" pitchFamily="2" charset="2"/>
              <a:buChar char="v"/>
            </a:pPr>
            <a:endParaRPr lang="en-US" b="1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400050" indent="-400050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Momentum equation</a:t>
            </a:r>
          </a:p>
          <a:p>
            <a:pPr marL="400050" indent="-400050">
              <a:buClr>
                <a:schemeClr val="accent1"/>
              </a:buClr>
              <a:buFont typeface="Wingdings" panose="05000000000000000000" pitchFamily="2" charset="2"/>
              <a:buChar char="v"/>
            </a:pPr>
            <a:endParaRPr lang="en-US" b="1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285750" indent="-285750" algn="l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Energy equation (</a:t>
            </a:r>
            <a:r>
              <a:rPr lang="en-US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I law)</a:t>
            </a:r>
          </a:p>
          <a:p>
            <a:pPr marL="285750" indent="-285750" algn="l">
              <a:buClr>
                <a:schemeClr val="accent1"/>
              </a:buClr>
              <a:buFont typeface="Wingdings" panose="05000000000000000000" pitchFamily="2" charset="2"/>
              <a:buChar char="v"/>
            </a:pPr>
            <a:endParaRPr lang="en-US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 algn="l">
              <a:buClr>
                <a:schemeClr val="accent1"/>
              </a:buClr>
              <a:buFont typeface="Wingdings" panose="05000000000000000000" pitchFamily="2" charset="2"/>
              <a:buChar char="v"/>
            </a:pPr>
            <a:endParaRPr lang="en-US" b="1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 algn="l">
              <a:buClr>
                <a:schemeClr val="accent1"/>
              </a:buClr>
              <a:buFont typeface="Wingdings" panose="05000000000000000000" pitchFamily="2" charset="2"/>
              <a:buChar char="v"/>
            </a:pPr>
            <a:endParaRPr lang="en-US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 algn="l">
              <a:buClr>
                <a:schemeClr val="accent1"/>
              </a:buClr>
              <a:buFont typeface="Wingdings" panose="05000000000000000000" pitchFamily="2" charset="2"/>
              <a:buChar char="v"/>
            </a:pPr>
            <a:endParaRPr lang="en-US" b="1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 algn="l">
              <a:buClr>
                <a:schemeClr val="accent1"/>
              </a:buClr>
              <a:buFont typeface="Wingdings" panose="05000000000000000000" pitchFamily="2" charset="2"/>
              <a:buChar char="v"/>
            </a:pPr>
            <a:endParaRPr lang="en-US" b="1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 algn="l">
              <a:buClr>
                <a:schemeClr val="accent1"/>
              </a:buClr>
              <a:buFont typeface="Wingdings" panose="05000000000000000000" pitchFamily="2" charset="2"/>
              <a:buChar char="v"/>
            </a:pPr>
            <a:endParaRPr lang="en-US" b="1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 algn="l">
              <a:buClr>
                <a:schemeClr val="accent1"/>
              </a:buClr>
              <a:buFont typeface="Wingdings" panose="05000000000000000000" pitchFamily="2" charset="2"/>
              <a:buChar char="v"/>
            </a:pPr>
            <a:endParaRPr lang="en-US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 algn="l">
              <a:buClr>
                <a:schemeClr val="accent1"/>
              </a:buClr>
              <a:buFont typeface="Wingdings" panose="05000000000000000000" pitchFamily="2" charset="2"/>
              <a:buChar char="v"/>
            </a:pPr>
            <a:endParaRPr lang="en-US" b="1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 algn="l">
              <a:buClr>
                <a:schemeClr val="accent1"/>
              </a:buClr>
              <a:buFont typeface="Wingdings" panose="05000000000000000000" pitchFamily="2" charset="2"/>
              <a:buChar char="v"/>
            </a:pPr>
            <a:endParaRPr lang="en-US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 algn="l">
              <a:buClr>
                <a:schemeClr val="accent1"/>
              </a:buClr>
              <a:buFont typeface="Wingdings" panose="05000000000000000000" pitchFamily="2" charset="2"/>
              <a:buChar char="v"/>
            </a:pPr>
            <a:endParaRPr lang="en-US" b="1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US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II Law</a:t>
            </a: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v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Arrow: Right 50">
            <a:extLst>
              <a:ext uri="{FF2B5EF4-FFF2-40B4-BE49-F238E27FC236}">
                <a16:creationId xmlns:a16="http://schemas.microsoft.com/office/drawing/2014/main" id="{DF67A1C7-6DD4-4F61-8363-7A5B5CCD46AB}"/>
              </a:ext>
            </a:extLst>
          </p:cNvPr>
          <p:cNvSpPr/>
          <p:nvPr/>
        </p:nvSpPr>
        <p:spPr>
          <a:xfrm>
            <a:off x="7849587" y="1720408"/>
            <a:ext cx="1303949" cy="162400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8331AAC-E832-41D5-A516-9C6BE6745A04}"/>
              </a:ext>
            </a:extLst>
          </p:cNvPr>
          <p:cNvSpPr txBox="1"/>
          <p:nvPr/>
        </p:nvSpPr>
        <p:spPr>
          <a:xfrm>
            <a:off x="7842615" y="1868674"/>
            <a:ext cx="232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impulse function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Arrow: Right 53">
            <a:extLst>
              <a:ext uri="{FF2B5EF4-FFF2-40B4-BE49-F238E27FC236}">
                <a16:creationId xmlns:a16="http://schemas.microsoft.com/office/drawing/2014/main" id="{CDFC2706-EBF2-47A2-8457-DBEBB5AFCF60}"/>
              </a:ext>
            </a:extLst>
          </p:cNvPr>
          <p:cNvSpPr/>
          <p:nvPr/>
        </p:nvSpPr>
        <p:spPr>
          <a:xfrm>
            <a:off x="4431904" y="2941216"/>
            <a:ext cx="1303949" cy="162400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D085FC-6955-4BC6-8571-C5556893A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714" y="1051302"/>
            <a:ext cx="1272650" cy="3048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6167FB-038D-4E0A-9D15-1B6B5E62B0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0653" y="1546431"/>
            <a:ext cx="3406435" cy="43437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507CEBB-003F-4B2E-9246-CDF9558B6C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9440" y="1313384"/>
            <a:ext cx="1386960" cy="32006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367B469-B716-49B5-BC64-7C40097FEF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9408" y="1573374"/>
            <a:ext cx="1188823" cy="2133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84F4970-30E9-4235-A2FB-27DA990628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668" y="2683705"/>
            <a:ext cx="3276884" cy="51058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6ED977D-FF17-419D-A3C9-29B7ACC8A066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52087"/>
          <a:stretch/>
        </p:blipFill>
        <p:spPr>
          <a:xfrm>
            <a:off x="4342927" y="3108054"/>
            <a:ext cx="1493649" cy="46736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38C1E4A-653D-446B-8D2D-D9F201A777CF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b="36391"/>
          <a:stretch/>
        </p:blipFill>
        <p:spPr>
          <a:xfrm>
            <a:off x="4431904" y="2318528"/>
            <a:ext cx="1493649" cy="62046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D8DE795-2099-4CB4-B436-FA6CC7DF51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6861" y="2759822"/>
            <a:ext cx="2705334" cy="624894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2A707A5D-A9DA-4A9F-B574-63AF0D489F4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06058" y="4844698"/>
            <a:ext cx="1905165" cy="327688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4EDB645B-49D3-4FF3-80A8-C2F57A1221D6}"/>
              </a:ext>
            </a:extLst>
          </p:cNvPr>
          <p:cNvSpPr txBox="1"/>
          <p:nvPr/>
        </p:nvSpPr>
        <p:spPr>
          <a:xfrm>
            <a:off x="609700" y="5358513"/>
            <a:ext cx="6096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800" b="0" i="0" u="none" strike="noStrike" baseline="0" dirty="0">
              <a:solidFill>
                <a:srgbClr val="00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reversible, adiabatic process (isentropic process), 𝑠2=𝑠1. 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4149972-8C46-42A2-89B6-B81B479E7D47}"/>
              </a:ext>
            </a:extLst>
          </p:cNvPr>
          <p:cNvSpPr txBox="1"/>
          <p:nvPr/>
        </p:nvSpPr>
        <p:spPr>
          <a:xfrm>
            <a:off x="559744" y="5797328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6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diabatic process, </a:t>
            </a:r>
            <a:r>
              <a:rPr lang="en-US" sz="1600" b="1" i="0" u="none" strike="noStrike" baseline="0" dirty="0">
                <a:solidFill>
                  <a:srgbClr val="000000"/>
                </a:solidFill>
                <a:latin typeface="Cambria Math" panose="02040503050406030204" pitchFamily="18" charset="0"/>
              </a:rPr>
              <a:t>𝑄̇=𝓆̇ </a:t>
            </a:r>
            <a:r>
              <a:rPr lang="en-US" sz="1600" b="1" dirty="0">
                <a:solidFill>
                  <a:srgbClr val="000000"/>
                </a:solidFill>
                <a:latin typeface="Cambria Math" panose="02040503050406030204" pitchFamily="18" charset="0"/>
              </a:rPr>
              <a:t>not equal </a:t>
            </a:r>
            <a:r>
              <a:rPr lang="en-US" sz="1600" b="1">
                <a:solidFill>
                  <a:srgbClr val="000000"/>
                </a:solidFill>
                <a:latin typeface="Cambria Math" panose="02040503050406030204" pitchFamily="18" charset="0"/>
              </a:rPr>
              <a:t>to zero</a:t>
            </a:r>
            <a:r>
              <a:rPr lang="en-US" sz="1600" b="1" i="0" u="none" strike="noStrike" baseline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en-US" sz="16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and </a:t>
            </a:r>
            <a:r>
              <a:rPr lang="en-US" sz="1600" b="1" i="0" u="none" strike="noStrike" baseline="0" dirty="0">
                <a:solidFill>
                  <a:srgbClr val="000000"/>
                </a:solidFill>
                <a:latin typeface="Cambria Math" panose="02040503050406030204" pitchFamily="18" charset="0"/>
              </a:rPr>
              <a:t>𝑠2≥𝑠1 </a:t>
            </a:r>
            <a:endParaRPr lang="en-US" sz="1600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3FE4520-16BD-4F67-B1E5-9CE615C443D0}"/>
              </a:ext>
            </a:extLst>
          </p:cNvPr>
          <p:cNvSpPr txBox="1"/>
          <p:nvPr/>
        </p:nvSpPr>
        <p:spPr>
          <a:xfrm>
            <a:off x="6823875" y="4384878"/>
            <a:ext cx="3156508" cy="30777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sz="1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heat transfer per unit area per unit time </a:t>
            </a:r>
            <a:endParaRPr lang="en-US" sz="140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010E76F2-B480-42C0-B77B-064FFE0C30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31424" y="1882808"/>
            <a:ext cx="1889924" cy="403895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CDDA0D64-72C6-458A-8746-E2932C6AC1FD}"/>
              </a:ext>
            </a:extLst>
          </p:cNvPr>
          <p:cNvSpPr txBox="1"/>
          <p:nvPr/>
        </p:nvSpPr>
        <p:spPr>
          <a:xfrm>
            <a:off x="842668" y="3342368"/>
            <a:ext cx="2845414" cy="30777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sz="1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heat addition into the control volume </a:t>
            </a:r>
            <a:endParaRPr lang="en-US" sz="1400" dirty="0"/>
          </a:p>
        </p:txBody>
      </p:sp>
      <p:cxnSp>
        <p:nvCxnSpPr>
          <p:cNvPr id="48" name="Connector: Curved 47">
            <a:extLst>
              <a:ext uri="{FF2B5EF4-FFF2-40B4-BE49-F238E27FC236}">
                <a16:creationId xmlns:a16="http://schemas.microsoft.com/office/drawing/2014/main" id="{AD780CCF-8B41-4358-A6E0-CD8E9BB485B1}"/>
              </a:ext>
            </a:extLst>
          </p:cNvPr>
          <p:cNvCxnSpPr>
            <a:cxnSpLocks/>
          </p:cNvCxnSpPr>
          <p:nvPr/>
        </p:nvCxnSpPr>
        <p:spPr>
          <a:xfrm rot="10800000" flipV="1">
            <a:off x="2756583" y="3138583"/>
            <a:ext cx="739911" cy="203152"/>
          </a:xfrm>
          <a:prstGeom prst="curvedConnector3">
            <a:avLst>
              <a:gd name="adj1" fmla="val 9725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: Curved 67">
            <a:extLst>
              <a:ext uri="{FF2B5EF4-FFF2-40B4-BE49-F238E27FC236}">
                <a16:creationId xmlns:a16="http://schemas.microsoft.com/office/drawing/2014/main" id="{FF240492-B656-485C-B5A8-156CC08FBD85}"/>
              </a:ext>
            </a:extLst>
          </p:cNvPr>
          <p:cNvCxnSpPr>
            <a:cxnSpLocks/>
          </p:cNvCxnSpPr>
          <p:nvPr/>
        </p:nvCxnSpPr>
        <p:spPr>
          <a:xfrm rot="5400000">
            <a:off x="3782169" y="3308685"/>
            <a:ext cx="342182" cy="3296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60A5F1FC-2EB1-4D0A-9261-19DA337E4AB9}"/>
              </a:ext>
            </a:extLst>
          </p:cNvPr>
          <p:cNvSpPr txBox="1"/>
          <p:nvPr/>
        </p:nvSpPr>
        <p:spPr>
          <a:xfrm>
            <a:off x="2534047" y="3693962"/>
            <a:ext cx="3617760" cy="30777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sz="1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work done by the control volume per unit time </a:t>
            </a:r>
            <a:endParaRPr lang="en-US" sz="1400" dirty="0"/>
          </a:p>
        </p:txBody>
      </p:sp>
      <p:cxnSp>
        <p:nvCxnSpPr>
          <p:cNvPr id="72" name="Connector: Curved 71">
            <a:extLst>
              <a:ext uri="{FF2B5EF4-FFF2-40B4-BE49-F238E27FC236}">
                <a16:creationId xmlns:a16="http://schemas.microsoft.com/office/drawing/2014/main" id="{00271AF0-DD43-49BF-9DD3-0B4E92172A9B}"/>
              </a:ext>
            </a:extLst>
          </p:cNvPr>
          <p:cNvCxnSpPr>
            <a:cxnSpLocks/>
          </p:cNvCxnSpPr>
          <p:nvPr/>
        </p:nvCxnSpPr>
        <p:spPr>
          <a:xfrm flipV="1">
            <a:off x="6167485" y="4662808"/>
            <a:ext cx="526783" cy="11732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5780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AF02A4-C342-4147-BF80-4706FB2DAE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1320" y="430821"/>
            <a:ext cx="9875838" cy="369332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spAutoFit/>
          </a:bodyPr>
          <a:lstStyle/>
          <a:p>
            <a:r>
              <a:rPr lang="en-US" sz="2000" b="1" i="0" u="none" strike="noStrike" baseline="0" dirty="0">
                <a:solidFill>
                  <a:srgbClr val="CD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Stagnation state (u = 0) </a:t>
            </a:r>
            <a:endParaRPr 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F04CA8F-B5A7-45D7-9CE4-246EC522A072}"/>
              </a:ext>
            </a:extLst>
          </p:cNvPr>
          <p:cNvSpPr txBox="1"/>
          <p:nvPr/>
        </p:nvSpPr>
        <p:spPr>
          <a:xfrm>
            <a:off x="660348" y="1113271"/>
            <a:ext cx="631230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Adiabatically</a:t>
            </a:r>
          </a:p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Reversibly </a:t>
            </a:r>
          </a:p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work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5CBDCA12-AA8F-4CD8-910A-FB93290C62BB}"/>
              </a:ext>
            </a:extLst>
          </p:cNvPr>
          <p:cNvSpPr/>
          <p:nvPr/>
        </p:nvSpPr>
        <p:spPr>
          <a:xfrm>
            <a:off x="3099896" y="1623311"/>
            <a:ext cx="1088527" cy="2080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50707A-2E5E-4462-9743-137F97F903F6}"/>
              </a:ext>
            </a:extLst>
          </p:cNvPr>
          <p:cNvSpPr txBox="1"/>
          <p:nvPr/>
        </p:nvSpPr>
        <p:spPr>
          <a:xfrm>
            <a:off x="588872" y="5528320"/>
            <a:ext cx="82623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 between pressure ratio and temperature ratio in isentropic flow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5209FD65-60E1-4172-8F97-50B62EAC0ED5}"/>
              </a:ext>
            </a:extLst>
          </p:cNvPr>
          <p:cNvSpPr/>
          <p:nvPr/>
        </p:nvSpPr>
        <p:spPr>
          <a:xfrm>
            <a:off x="6026194" y="1594829"/>
            <a:ext cx="1203553" cy="23054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337C87-5DD6-4C51-9467-541D146D2BFE}"/>
              </a:ext>
            </a:extLst>
          </p:cNvPr>
          <p:cNvSpPr txBox="1"/>
          <p:nvPr/>
        </p:nvSpPr>
        <p:spPr>
          <a:xfrm>
            <a:off x="3048000" y="1278425"/>
            <a:ext cx="10885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I and II laws </a:t>
            </a:r>
            <a:endParaRPr lang="en-US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7DE566-F6E6-4FE4-B304-388BAC964F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4252" y="1326632"/>
            <a:ext cx="1226926" cy="8001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63C1D67-12A5-49AF-8119-F372EB02A44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1" t="1" r="73491" b="304"/>
          <a:stretch/>
        </p:blipFill>
        <p:spPr>
          <a:xfrm>
            <a:off x="6223793" y="1073987"/>
            <a:ext cx="748856" cy="53399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9863279-C1A4-48D6-8F59-6C39DE11D0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48" y="2217001"/>
            <a:ext cx="2575783" cy="54868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DA5E2F1-F371-4E84-A57B-9BB2F6CA58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3530" y="2692011"/>
            <a:ext cx="2918713" cy="77730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48DC3D8-4A4F-4114-A810-73C372998F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1422" y="2910310"/>
            <a:ext cx="2110923" cy="32006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1A504DB-04E8-413A-A106-AF60657C781F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-5311" t="-5105" r="5133" b="5106"/>
          <a:stretch/>
        </p:blipFill>
        <p:spPr>
          <a:xfrm>
            <a:off x="7823161" y="3485775"/>
            <a:ext cx="4046110" cy="54868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3AF50C7-8DF6-4726-90D8-20F310E0F64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98848" y="3600085"/>
            <a:ext cx="2537680" cy="43437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7C8A9793-2B00-4EF3-B0B4-9764A9FC30E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4562" y="3327470"/>
            <a:ext cx="1585097" cy="381033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24EBBBF7-50D6-4AD5-AFF1-BA34533495A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98848" y="5836913"/>
            <a:ext cx="3589331" cy="662997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4B7D59B-D4BE-4D0F-86C4-3B786A207C6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6131" y="4760187"/>
            <a:ext cx="3657917" cy="632515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8E24BF0C-B333-4CB7-AFE4-A3C26FB7F2A4}"/>
              </a:ext>
            </a:extLst>
          </p:cNvPr>
          <p:cNvSpPr txBox="1"/>
          <p:nvPr/>
        </p:nvSpPr>
        <p:spPr>
          <a:xfrm>
            <a:off x="588872" y="4433746"/>
            <a:ext cx="9854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 between stagnation pressure ratio and stagnation temperature ratio in isentropic flow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353A354-6F11-4170-BE82-C333BB716262}"/>
              </a:ext>
            </a:extLst>
          </p:cNvPr>
          <p:cNvSpPr txBox="1"/>
          <p:nvPr/>
        </p:nvSpPr>
        <p:spPr>
          <a:xfrm>
            <a:off x="742476" y="294080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law: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C38193E0-176C-4108-9DC4-12702A07B56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981" t="1" b="304"/>
          <a:stretch/>
        </p:blipFill>
        <p:spPr>
          <a:xfrm>
            <a:off x="7536819" y="1399395"/>
            <a:ext cx="1780194" cy="533992"/>
          </a:xfrm>
          <a:prstGeom prst="rect">
            <a:avLst/>
          </a:prstGeom>
        </p:spPr>
      </p:pic>
      <p:sp>
        <p:nvSpPr>
          <p:cNvPr id="49" name="Arrow: Right 48">
            <a:extLst>
              <a:ext uri="{FF2B5EF4-FFF2-40B4-BE49-F238E27FC236}">
                <a16:creationId xmlns:a16="http://schemas.microsoft.com/office/drawing/2014/main" id="{FFDB7083-DDF0-4240-A1D5-AC0AA1559351}"/>
              </a:ext>
            </a:extLst>
          </p:cNvPr>
          <p:cNvSpPr/>
          <p:nvPr/>
        </p:nvSpPr>
        <p:spPr>
          <a:xfrm>
            <a:off x="6849642" y="2965390"/>
            <a:ext cx="1203553" cy="23054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FD4933E-03A1-43E3-8AB2-97CE0355AF0F}"/>
              </a:ext>
            </a:extLst>
          </p:cNvPr>
          <p:cNvSpPr txBox="1"/>
          <p:nvPr/>
        </p:nvSpPr>
        <p:spPr>
          <a:xfrm>
            <a:off x="588872" y="365843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 Law:</a:t>
            </a:r>
          </a:p>
        </p:txBody>
      </p:sp>
      <p:sp>
        <p:nvSpPr>
          <p:cNvPr id="51" name="Arrow: Right 50">
            <a:extLst>
              <a:ext uri="{FF2B5EF4-FFF2-40B4-BE49-F238E27FC236}">
                <a16:creationId xmlns:a16="http://schemas.microsoft.com/office/drawing/2014/main" id="{5A7790EA-7016-4704-A67D-BEBF99054CA2}"/>
              </a:ext>
            </a:extLst>
          </p:cNvPr>
          <p:cNvSpPr/>
          <p:nvPr/>
        </p:nvSpPr>
        <p:spPr>
          <a:xfrm>
            <a:off x="6576106" y="3738384"/>
            <a:ext cx="1203553" cy="23054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97C5E7DA-0969-4D1D-B1E2-A8DABF89435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42975" y="1435610"/>
            <a:ext cx="1234547" cy="556308"/>
          </a:xfrm>
          <a:prstGeom prst="rect">
            <a:avLst/>
          </a:prstGeom>
        </p:spPr>
      </p:pic>
      <p:sp>
        <p:nvSpPr>
          <p:cNvPr id="53" name="Arrow: Right 52">
            <a:extLst>
              <a:ext uri="{FF2B5EF4-FFF2-40B4-BE49-F238E27FC236}">
                <a16:creationId xmlns:a16="http://schemas.microsoft.com/office/drawing/2014/main" id="{FFCF2F16-85DC-4FEA-B40C-4846F75607DC}"/>
              </a:ext>
            </a:extLst>
          </p:cNvPr>
          <p:cNvSpPr/>
          <p:nvPr/>
        </p:nvSpPr>
        <p:spPr>
          <a:xfrm>
            <a:off x="9428394" y="1607979"/>
            <a:ext cx="705528" cy="18224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686BAEB-E234-4A1E-82F3-EAC9DF734FF8}"/>
              </a:ext>
            </a:extLst>
          </p:cNvPr>
          <p:cNvSpPr txBox="1"/>
          <p:nvPr/>
        </p:nvSpPr>
        <p:spPr>
          <a:xfrm>
            <a:off x="5515923" y="1831144"/>
            <a:ext cx="24410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C00000"/>
              </a:buClr>
            </a:pPr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Calorically Perfect Gas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(CPG)</a:t>
            </a:r>
          </a:p>
        </p:txBody>
      </p:sp>
    </p:spTree>
    <p:extLst>
      <p:ext uri="{BB962C8B-B14F-4D97-AF65-F5344CB8AC3E}">
        <p14:creationId xmlns:p14="http://schemas.microsoft.com/office/powerpoint/2010/main" val="801225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3F85704-61A2-49B1-80EF-C1B5A3B68979}"/>
              </a:ext>
            </a:extLst>
          </p:cNvPr>
          <p:cNvSpPr txBox="1"/>
          <p:nvPr/>
        </p:nvSpPr>
        <p:spPr>
          <a:xfrm>
            <a:off x="482860" y="591495"/>
            <a:ext cx="60975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 number</a:t>
            </a:r>
            <a:endParaRPr lang="en-US" sz="2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4F67F0-ED1D-463A-B29B-17DA45B1A4E0}"/>
              </a:ext>
            </a:extLst>
          </p:cNvPr>
          <p:cNvSpPr txBox="1"/>
          <p:nvPr/>
        </p:nvSpPr>
        <p:spPr>
          <a:xfrm>
            <a:off x="482860" y="1929499"/>
            <a:ext cx="60975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ideal gas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7646F4D-6E97-4AB2-A69F-DFFC6313B515}"/>
              </a:ext>
            </a:extLst>
          </p:cNvPr>
          <p:cNvSpPr txBox="1"/>
          <p:nvPr/>
        </p:nvSpPr>
        <p:spPr>
          <a:xfrm>
            <a:off x="326436" y="3362916"/>
            <a:ext cx="70156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Mass flow rate in terms of stagnation values and Mach number</a:t>
            </a:r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BDAF318F-16FF-4A1E-954E-6F6FD1774E41}"/>
              </a:ext>
            </a:extLst>
          </p:cNvPr>
          <p:cNvSpPr/>
          <p:nvPr/>
        </p:nvSpPr>
        <p:spPr>
          <a:xfrm>
            <a:off x="2345443" y="4343700"/>
            <a:ext cx="963841" cy="29522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1AC728-2880-4DF5-9430-07B11E4B6017}"/>
              </a:ext>
            </a:extLst>
          </p:cNvPr>
          <p:cNvSpPr txBox="1"/>
          <p:nvPr/>
        </p:nvSpPr>
        <p:spPr>
          <a:xfrm>
            <a:off x="6095999" y="1027921"/>
            <a:ext cx="1864660" cy="33855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sz="1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local speed of sound </a:t>
            </a:r>
            <a:endParaRPr lang="en-US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2821F3-FDA2-4C9B-BFD8-9354160859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0767" y="1826886"/>
            <a:ext cx="1653683" cy="5029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439FE3-4E75-4A12-B61C-CD4FE64976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0601" y="1745018"/>
            <a:ext cx="824896" cy="29644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4B143A9-B105-4822-BE50-833E355708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6048" y="1754490"/>
            <a:ext cx="2903472" cy="54868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D82EAD6-1C7B-4C1A-AE57-64BB8F9F8E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7806" y="3314618"/>
            <a:ext cx="3284505" cy="59441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8B4C000-EF2B-4B11-A5A7-910778278D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78579" y="4112237"/>
            <a:ext cx="3493835" cy="908233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23C80740-CA0D-48ED-806E-0BC922E3F3C6}"/>
              </a:ext>
            </a:extLst>
          </p:cNvPr>
          <p:cNvSpPr txBox="1"/>
          <p:nvPr/>
        </p:nvSpPr>
        <p:spPr>
          <a:xfrm>
            <a:off x="1810871" y="39914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Substituting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ambria Math" panose="02040503050406030204" pitchFamily="18" charset="0"/>
              </a:rPr>
              <a:t>𝑇,P</a:t>
            </a:r>
            <a:endParaRPr lang="en-US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FE0247B-6402-4EB3-8079-E44823FE89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28639" y="927078"/>
            <a:ext cx="930232" cy="552269"/>
          </a:xfrm>
          <a:prstGeom prst="rect">
            <a:avLst/>
          </a:prstGeom>
        </p:spPr>
      </p:pic>
      <p:cxnSp>
        <p:nvCxnSpPr>
          <p:cNvPr id="27" name="Connector: Curved 26">
            <a:extLst>
              <a:ext uri="{FF2B5EF4-FFF2-40B4-BE49-F238E27FC236}">
                <a16:creationId xmlns:a16="http://schemas.microsoft.com/office/drawing/2014/main" id="{1E1B7286-3B12-4509-A60D-1A8876BE1D53}"/>
              </a:ext>
            </a:extLst>
          </p:cNvPr>
          <p:cNvCxnSpPr/>
          <p:nvPr/>
        </p:nvCxnSpPr>
        <p:spPr>
          <a:xfrm flipV="1">
            <a:off x="5030060" y="1299646"/>
            <a:ext cx="895437" cy="106982"/>
          </a:xfrm>
          <a:prstGeom prst="curvedConnector3">
            <a:avLst>
              <a:gd name="adj1" fmla="val 4799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Picture 39">
            <a:extLst>
              <a:ext uri="{FF2B5EF4-FFF2-40B4-BE49-F238E27FC236}">
                <a16:creationId xmlns:a16="http://schemas.microsoft.com/office/drawing/2014/main" id="{9A87C46A-6E0F-45F4-93CE-5753E393DE2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58655" y="1754490"/>
            <a:ext cx="1356478" cy="647756"/>
          </a:xfrm>
          <a:prstGeom prst="rect">
            <a:avLst/>
          </a:prstGeom>
        </p:spPr>
      </p:pic>
      <p:sp>
        <p:nvSpPr>
          <p:cNvPr id="41" name="Arrow: Right 40">
            <a:extLst>
              <a:ext uri="{FF2B5EF4-FFF2-40B4-BE49-F238E27FC236}">
                <a16:creationId xmlns:a16="http://schemas.microsoft.com/office/drawing/2014/main" id="{FA2394E3-B7BE-47A7-B687-D4600B0A78E6}"/>
              </a:ext>
            </a:extLst>
          </p:cNvPr>
          <p:cNvSpPr/>
          <p:nvPr/>
        </p:nvSpPr>
        <p:spPr>
          <a:xfrm>
            <a:off x="4945997" y="2044181"/>
            <a:ext cx="1203553" cy="23054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F07C1A2C-7B2B-4489-BCBA-5346D026C9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8318" y="2359170"/>
            <a:ext cx="572881" cy="34011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D22AE3E6-0DF1-4B97-B07A-C2BE3CB7328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95466" y="4796333"/>
            <a:ext cx="2758679" cy="731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355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D1F8C-DA0D-6351-6D58-332EEBF08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953729"/>
          </a:xfrm>
        </p:spPr>
        <p:txBody>
          <a:bodyPr/>
          <a:lstStyle/>
          <a:p>
            <a:r>
              <a:rPr lang="en-US" altLang="zh-CN" dirty="0"/>
              <a:t>Gas Mixture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2FFAD7-90C3-D550-9171-389DA86554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047" y="1563329"/>
            <a:ext cx="5411511" cy="21729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24BE715-7E83-C911-2FC8-B28DC2A8EE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5660" y="3932378"/>
            <a:ext cx="1065524" cy="35940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120D315-4898-AF16-D934-A6CC74333F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9695" y="4374399"/>
            <a:ext cx="2413376" cy="84915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E63FDB6-C64C-0212-44AF-FB191F71D8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1375" y="5064414"/>
            <a:ext cx="2227283" cy="114385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C150A5C-7846-0EE2-9824-298D5EFE92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6561" y="564433"/>
            <a:ext cx="4440306" cy="70884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7F3C4AA-103F-999D-8E41-53662FAE21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64477" y="1419841"/>
            <a:ext cx="4568005" cy="110137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A6048D3-D318-D3C5-BDC1-228FE04C619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70940" y="2315852"/>
            <a:ext cx="2413376" cy="1148612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F80EE91F-4922-49CD-2C31-8E50BB24670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1236" y="2351450"/>
            <a:ext cx="2311538" cy="4091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61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F3C2B-76C3-7A31-53C1-4BF42744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860323"/>
          </a:xfrm>
        </p:spPr>
        <p:txBody>
          <a:bodyPr/>
          <a:lstStyle/>
          <a:p>
            <a:r>
              <a:rPr lang="en-US" altLang="zh-CN" dirty="0"/>
              <a:t>Oblique Shocks</a:t>
            </a:r>
            <a:endParaRPr lang="zh-CN" alt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780EB31-4972-CBC9-FFBF-62B6146670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8633" y="1217823"/>
            <a:ext cx="7770106" cy="5030577"/>
          </a:xfrm>
        </p:spPr>
      </p:pic>
    </p:spTree>
    <p:extLst>
      <p:ext uri="{BB962C8B-B14F-4D97-AF65-F5344CB8AC3E}">
        <p14:creationId xmlns:p14="http://schemas.microsoft.com/office/powerpoint/2010/main" val="1957229988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1821</TotalTime>
  <Words>172</Words>
  <Application>Microsoft Office PowerPoint</Application>
  <PresentationFormat>Widescreen</PresentationFormat>
  <Paragraphs>43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Cambria Math</vt:lpstr>
      <vt:lpstr>Corbel</vt:lpstr>
      <vt:lpstr>Times New Roman</vt:lpstr>
      <vt:lpstr>Wingdings</vt:lpstr>
      <vt:lpstr>Basis</vt:lpstr>
      <vt:lpstr>Module 2 :A review of thermodynamics and gas dyanmics</vt:lpstr>
      <vt:lpstr>General 1-D, steady flow of a perfect gas: </vt:lpstr>
      <vt:lpstr>Stagnation state (u = 0) </vt:lpstr>
      <vt:lpstr>PowerPoint Presentation</vt:lpstr>
      <vt:lpstr>Gas Mixture</vt:lpstr>
      <vt:lpstr>Oblique Shocks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Hamid</dc:creator>
  <cp:lastModifiedBy>Roohi Golkhatmi, Ehsan</cp:lastModifiedBy>
  <cp:revision>72</cp:revision>
  <dcterms:created xsi:type="dcterms:W3CDTF">2024-07-31T20:56:00Z</dcterms:created>
  <dcterms:modified xsi:type="dcterms:W3CDTF">2024-09-08T02:02:03Z</dcterms:modified>
</cp:coreProperties>
</file>