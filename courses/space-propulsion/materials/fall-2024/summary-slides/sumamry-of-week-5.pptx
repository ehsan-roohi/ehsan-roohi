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8" r:id="rId3"/>
    <p:sldId id="261" r:id="rId4"/>
    <p:sldId id="263" r:id="rId5"/>
    <p:sldId id="259" r:id="rId6"/>
    <p:sldId id="268" r:id="rId7"/>
    <p:sldId id="269" r:id="rId8"/>
    <p:sldId id="270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mid" initials="H" lastIdx="1" clrIdx="0">
    <p:extLst>
      <p:ext uri="{19B8F6BF-5375-455C-9EA6-DF929625EA0E}">
        <p15:presenceInfo xmlns:p15="http://schemas.microsoft.com/office/powerpoint/2012/main" userId="Ham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94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0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7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0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3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3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7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9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13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728-12A4-4D82-B445-B1627996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Sections 1 – 4</a:t>
            </a:r>
            <a:b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17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3D1A-369B-4AC5-A2DE-BCA7D204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5" y="1219052"/>
            <a:ext cx="1788459" cy="369332"/>
          </a:xfr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ctr"/>
            <a:r>
              <a:rPr lang="en-US" sz="18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Thrust</a:t>
            </a:r>
            <a: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229D79-74F2-4115-BEFD-F989F9F6E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314" y="990164"/>
            <a:ext cx="2805083" cy="51912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DFC0E8F-2D3F-4E1B-BE20-6E84DC42290D}"/>
              </a:ext>
            </a:extLst>
          </p:cNvPr>
          <p:cNvSpPr txBox="1"/>
          <p:nvPr/>
        </p:nvSpPr>
        <p:spPr>
          <a:xfrm>
            <a:off x="6911474" y="736924"/>
            <a:ext cx="34288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sz="1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exhaust velocity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AC866A5-C996-4C0B-8E07-C034E3B346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29768" t="5953"/>
          <a:stretch/>
        </p:blipFill>
        <p:spPr>
          <a:xfrm>
            <a:off x="5663397" y="1158096"/>
            <a:ext cx="1037496" cy="38800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A89F7F5-D912-4832-A4DA-8E6CA158E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420" y="1821132"/>
            <a:ext cx="2017005" cy="5669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8D8DDC1-A48E-4955-A872-A55C4F35FAE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579"/>
          <a:stretch/>
        </p:blipFill>
        <p:spPr>
          <a:xfrm>
            <a:off x="5232408" y="1812344"/>
            <a:ext cx="1816096" cy="701886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694759BF-A7BF-40EF-BC56-446FD7493757}"/>
              </a:ext>
            </a:extLst>
          </p:cNvPr>
          <p:cNvSpPr txBox="1">
            <a:spLocks/>
          </p:cNvSpPr>
          <p:nvPr/>
        </p:nvSpPr>
        <p:spPr>
          <a:xfrm>
            <a:off x="121779" y="1919990"/>
            <a:ext cx="2236694" cy="406235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impulse:</a:t>
            </a:r>
            <a:br>
              <a:rPr lang="en-US" sz="1800" b="1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B1D46-5661-455A-976F-18B4AB423B76}"/>
              </a:ext>
            </a:extLst>
          </p:cNvPr>
          <p:cNvSpPr txBox="1"/>
          <p:nvPr/>
        </p:nvSpPr>
        <p:spPr>
          <a:xfrm>
            <a:off x="301811" y="2916350"/>
            <a:ext cx="176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1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Acceleration: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5C71F4-0571-4EB2-B368-B7E9314963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0311" y="2951147"/>
            <a:ext cx="2854950" cy="5270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30BD971-EB76-4247-BBED-49AC6DCF1429}"/>
              </a:ext>
            </a:extLst>
          </p:cNvPr>
          <p:cNvSpPr txBox="1"/>
          <p:nvPr/>
        </p:nvSpPr>
        <p:spPr>
          <a:xfrm>
            <a:off x="-1936582" y="3999689"/>
            <a:ext cx="612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 Rise: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992E38-B104-4D48-A078-C2A3D1499D7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" r="17369" b="2253"/>
          <a:stretch/>
        </p:blipFill>
        <p:spPr>
          <a:xfrm>
            <a:off x="2743402" y="3861190"/>
            <a:ext cx="4716179" cy="6240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59E075C-E7E6-4C7D-B6E6-C86EB762DD72}"/>
              </a:ext>
            </a:extLst>
          </p:cNvPr>
          <p:cNvSpPr txBox="1"/>
          <p:nvPr/>
        </p:nvSpPr>
        <p:spPr>
          <a:xfrm>
            <a:off x="8226452" y="3911861"/>
            <a:ext cx="3277735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>
              <a:buClr>
                <a:srgbClr val="C00000"/>
              </a:buClr>
            </a:pPr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Impulsive Velocity Rise: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91786F1-02DA-49C4-9044-73F3C5F94E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8316" y="3940156"/>
            <a:ext cx="739204" cy="2819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23AC861-49F1-45C8-AD8E-56B4F6FCED2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3819" t="-210" r="-1217" b="210"/>
          <a:stretch/>
        </p:blipFill>
        <p:spPr>
          <a:xfrm>
            <a:off x="9350677" y="634959"/>
            <a:ext cx="2355278" cy="19605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0A2AD40-AF75-4D4C-9E2F-499D430DCCEE}"/>
              </a:ext>
            </a:extLst>
          </p:cNvPr>
          <p:cNvSpPr txBox="1"/>
          <p:nvPr/>
        </p:nvSpPr>
        <p:spPr>
          <a:xfrm>
            <a:off x="301811" y="7892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B3A37D3-AD96-403C-A585-5A0CAEE43C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7337" y="4968454"/>
            <a:ext cx="1725205" cy="45810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48AA6C-574C-4938-82A7-A878326A43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8560" y="5580269"/>
            <a:ext cx="1600339" cy="25148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D79E14B-99E3-43FF-A7EF-D4B3BFA63F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2992" y="5558388"/>
            <a:ext cx="975445" cy="26672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42139A3-AEE3-442D-906C-C06AA6F10B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8899" y="5549787"/>
            <a:ext cx="419136" cy="2819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37AE714-DBA6-4EA5-B27F-E13CEE200B3C}"/>
              </a:ext>
            </a:extLst>
          </p:cNvPr>
          <p:cNvCxnSpPr>
            <a:cxnSpLocks/>
          </p:cNvCxnSpPr>
          <p:nvPr/>
        </p:nvCxnSpPr>
        <p:spPr>
          <a:xfrm flipH="1">
            <a:off x="2810696" y="5353485"/>
            <a:ext cx="444940" cy="26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7712A04-0F92-42C9-BDDD-4A3649F6DFB7}"/>
              </a:ext>
            </a:extLst>
          </p:cNvPr>
          <p:cNvCxnSpPr/>
          <p:nvPr/>
        </p:nvCxnSpPr>
        <p:spPr>
          <a:xfrm>
            <a:off x="4120151" y="5341655"/>
            <a:ext cx="230392" cy="252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566AE6C-4CB7-4105-8463-BC4AB4B3600C}"/>
              </a:ext>
            </a:extLst>
          </p:cNvPr>
          <p:cNvSpPr txBox="1"/>
          <p:nvPr/>
        </p:nvSpPr>
        <p:spPr>
          <a:xfrm>
            <a:off x="381330" y="5032234"/>
            <a:ext cx="2243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>
                <a:srgbClr val="C00000"/>
              </a:buClr>
            </a:pPr>
            <a:r>
              <a:rPr lang="en-US" sz="1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Burnout mass: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082908E6-377D-4AF0-955E-F0F95818192A}"/>
              </a:ext>
            </a:extLst>
          </p:cNvPr>
          <p:cNvSpPr txBox="1">
            <a:spLocks/>
          </p:cNvSpPr>
          <p:nvPr/>
        </p:nvSpPr>
        <p:spPr>
          <a:xfrm>
            <a:off x="-136352" y="8456748"/>
            <a:ext cx="2708345" cy="89238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B0157E7-1B35-4E43-BA30-13648744A2FC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7184" t="26542" r="17952" b="64031"/>
          <a:stretch/>
        </p:blipFill>
        <p:spPr>
          <a:xfrm>
            <a:off x="9681506" y="5020735"/>
            <a:ext cx="2019544" cy="442973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65B351F-4BBE-4093-9DBE-3FFA13253DD4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35587" b="-2762"/>
          <a:stretch/>
        </p:blipFill>
        <p:spPr>
          <a:xfrm>
            <a:off x="6285829" y="5575239"/>
            <a:ext cx="628315" cy="21927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0B660C3-6A68-45BE-89C0-C5855CB28A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73509" y="4692119"/>
            <a:ext cx="1226926" cy="20575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443CF5E-A7B0-4BED-AFB3-EE8ACD6B6018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89903"/>
          <a:stretch/>
        </p:blipFill>
        <p:spPr>
          <a:xfrm>
            <a:off x="6163602" y="4996010"/>
            <a:ext cx="3036833" cy="462828"/>
          </a:xfrm>
          <a:prstGeom prst="rect">
            <a:avLst/>
          </a:prstGeom>
        </p:spPr>
      </p:pic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B7819C8F-3CB6-4C3D-8423-0E44807B2F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14144" y="5429361"/>
            <a:ext cx="303076" cy="145878"/>
          </a:xfrm>
          <a:prstGeom prst="curvedConnector3">
            <a:avLst>
              <a:gd name="adj1" fmla="val 2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CEDE3B18-BC32-4EF7-AD3A-294301A3E3D7}"/>
              </a:ext>
            </a:extLst>
          </p:cNvPr>
          <p:cNvCxnSpPr/>
          <p:nvPr/>
        </p:nvCxnSpPr>
        <p:spPr>
          <a:xfrm rot="5400000" flipH="1" flipV="1">
            <a:off x="8612903" y="4918737"/>
            <a:ext cx="337780" cy="22072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2EEE9A16-9490-42CC-B30F-85FE4F372778}"/>
              </a:ext>
            </a:extLst>
          </p:cNvPr>
          <p:cNvSpPr/>
          <p:nvPr/>
        </p:nvSpPr>
        <p:spPr>
          <a:xfrm>
            <a:off x="5260609" y="5002244"/>
            <a:ext cx="587829" cy="359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5D1C93A6-D8EA-4AF7-9C6E-0E370CEAD869}"/>
              </a:ext>
            </a:extLst>
          </p:cNvPr>
          <p:cNvSpPr/>
          <p:nvPr/>
        </p:nvSpPr>
        <p:spPr>
          <a:xfrm>
            <a:off x="9108862" y="5051196"/>
            <a:ext cx="403397" cy="261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328FF89-4447-4548-9F18-391CEAF3F851}"/>
              </a:ext>
            </a:extLst>
          </p:cNvPr>
          <p:cNvCxnSpPr/>
          <p:nvPr/>
        </p:nvCxnSpPr>
        <p:spPr>
          <a:xfrm flipV="1">
            <a:off x="6447125" y="906174"/>
            <a:ext cx="464349" cy="334365"/>
          </a:xfrm>
          <a:prstGeom prst="bentConnector3">
            <a:avLst>
              <a:gd name="adj1" fmla="val 17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22C789D-6C6D-45A4-9E7F-A7D7972A8CA0}"/>
                  </a:ext>
                </a:extLst>
              </p:cNvPr>
              <p:cNvSpPr txBox="1"/>
              <p:nvPr/>
            </p:nvSpPr>
            <p:spPr>
              <a:xfrm>
                <a:off x="5924102" y="5766098"/>
                <a:ext cx="6096000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𝑒𝑛𝑔</m:t>
                              </m:r>
                            </m:sub>
                          </m:s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𝑡𝑎𝑛𝑘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22C789D-6C6D-45A4-9E7F-A7D7972A8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102" y="5766098"/>
                <a:ext cx="6096000" cy="358560"/>
              </a:xfrm>
              <a:prstGeom prst="rect">
                <a:avLst/>
              </a:prstGeom>
              <a:blipFill>
                <a:blip r:embed="rId18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821BA89-BEAA-4996-B32F-2FB797789733}"/>
                  </a:ext>
                </a:extLst>
              </p:cNvPr>
              <p:cNvSpPr txBox="1"/>
              <p:nvPr/>
            </p:nvSpPr>
            <p:spPr>
              <a:xfrm>
                <a:off x="2431370" y="6035995"/>
                <a:ext cx="2507529" cy="662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821BA89-BEAA-4996-B32F-2FB797789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370" y="6035995"/>
                <a:ext cx="2507529" cy="662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6836FEA9-E1B5-4031-8502-67391BFA05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65473" y="5546073"/>
            <a:ext cx="415710" cy="1482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1D1EDA7-1B81-4DA0-8154-516A8AEA22DA}"/>
              </a:ext>
            </a:extLst>
          </p:cNvPr>
          <p:cNvSpPr/>
          <p:nvPr/>
        </p:nvSpPr>
        <p:spPr>
          <a:xfrm>
            <a:off x="3442447" y="5889520"/>
            <a:ext cx="179294" cy="2514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FE937AD2-8418-442F-8A3F-74DCD099FCBA}"/>
              </a:ext>
            </a:extLst>
          </p:cNvPr>
          <p:cNvSpPr txBox="1">
            <a:spLocks/>
          </p:cNvSpPr>
          <p:nvPr/>
        </p:nvSpPr>
        <p:spPr>
          <a:xfrm>
            <a:off x="121779" y="361291"/>
            <a:ext cx="1788459" cy="36933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Section1 :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78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0A2D9932-EB8D-416A-91E3-6E4211235D04}"/>
              </a:ext>
            </a:extLst>
          </p:cNvPr>
          <p:cNvSpPr txBox="1"/>
          <p:nvPr/>
        </p:nvSpPr>
        <p:spPr>
          <a:xfrm>
            <a:off x="459653" y="1223073"/>
            <a:ext cx="665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sz="1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Coefficient: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CCA7D0-9659-4530-A539-CC644FC9746A}"/>
              </a:ext>
            </a:extLst>
          </p:cNvPr>
          <p:cNvSpPr txBox="1"/>
          <p:nvPr/>
        </p:nvSpPr>
        <p:spPr>
          <a:xfrm>
            <a:off x="459653" y="19245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>
                <a:srgbClr val="C00000"/>
              </a:buClr>
            </a:pPr>
            <a:r>
              <a:rPr lang="en-US" sz="1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 ratio: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6E6101B1-D2A0-4FBF-AE03-7B7FD0AD59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57" b="-3359"/>
          <a:stretch/>
        </p:blipFill>
        <p:spPr>
          <a:xfrm>
            <a:off x="4910721" y="1892861"/>
            <a:ext cx="986646" cy="72086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72972E-8405-419A-92EA-7BBE083BD56A}"/>
                  </a:ext>
                </a:extLst>
              </p:cNvPr>
              <p:cNvSpPr txBox="1"/>
              <p:nvPr/>
            </p:nvSpPr>
            <p:spPr>
              <a:xfrm>
                <a:off x="2846070" y="1852298"/>
                <a:ext cx="2064651" cy="64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𝑒𝑞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72972E-8405-419A-92EA-7BBE083BD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070" y="1852298"/>
                <a:ext cx="2064651" cy="64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7FE8B2C-3A49-41AA-9986-29A2D418D1CC}"/>
                  </a:ext>
                </a:extLst>
              </p:cNvPr>
              <p:cNvSpPr txBox="1"/>
              <p:nvPr/>
            </p:nvSpPr>
            <p:spPr>
              <a:xfrm>
                <a:off x="4535319" y="1244287"/>
                <a:ext cx="1349370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endParaRPr lang="en-US" sz="160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7FE8B2C-3A49-41AA-9986-29A2D418D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319" y="1244287"/>
                <a:ext cx="1349370" cy="4726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itle 1">
            <a:extLst>
              <a:ext uri="{FF2B5EF4-FFF2-40B4-BE49-F238E27FC236}">
                <a16:creationId xmlns:a16="http://schemas.microsoft.com/office/drawing/2014/main" id="{6BC900E1-9FE8-41E9-A35E-3284DEF8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26" y="2476551"/>
            <a:ext cx="9875520" cy="135636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Multi-Stage Rockets: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FB552D-B336-48FF-9268-ADA92AAA1348}"/>
              </a:ext>
            </a:extLst>
          </p:cNvPr>
          <p:cNvSpPr txBox="1"/>
          <p:nvPr/>
        </p:nvSpPr>
        <p:spPr>
          <a:xfrm>
            <a:off x="328884" y="3684445"/>
            <a:ext cx="10260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ratio of the </a:t>
            </a:r>
            <a:r>
              <a:rPr lang="en-US" sz="18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stage:</a:t>
            </a:r>
            <a:endParaRPr lang="en-US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F2F87B9-A045-496C-B981-83A2CAC4AA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087" t="82969"/>
          <a:stretch/>
        </p:blipFill>
        <p:spPr>
          <a:xfrm>
            <a:off x="5542243" y="5009088"/>
            <a:ext cx="1535828" cy="78487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789C2111-F05B-40BE-88AC-B47EB62DC43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493" t="21053" b="63532"/>
          <a:stretch/>
        </p:blipFill>
        <p:spPr>
          <a:xfrm>
            <a:off x="6450542" y="4250017"/>
            <a:ext cx="1678974" cy="60819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60C328B-2476-4832-94DA-F539B1C5B0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2735" b="41911"/>
          <a:stretch/>
        </p:blipFill>
        <p:spPr>
          <a:xfrm>
            <a:off x="4361075" y="4263563"/>
            <a:ext cx="2162498" cy="596942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9C75C6CE-D763-409B-AC7D-3B8F4613AA2B}"/>
              </a:ext>
            </a:extLst>
          </p:cNvPr>
          <p:cNvSpPr txBox="1"/>
          <p:nvPr/>
        </p:nvSpPr>
        <p:spPr>
          <a:xfrm>
            <a:off x="328884" y="4351691"/>
            <a:ext cx="4044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coefficient of the </a:t>
            </a:r>
            <a:r>
              <a:rPr lang="en-US" sz="18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stage: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D17707B-7942-424A-8EE4-D0C0D0A01182}"/>
              </a:ext>
            </a:extLst>
          </p:cNvPr>
          <p:cNvSpPr txBox="1"/>
          <p:nvPr/>
        </p:nvSpPr>
        <p:spPr>
          <a:xfrm>
            <a:off x="328884" y="5136204"/>
            <a:ext cx="3271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ratio of the </a:t>
            </a:r>
            <a:r>
              <a:rPr lang="en-US" sz="18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stage: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9488155-BA9F-41FE-80DC-06683F8257DA}"/>
              </a:ext>
            </a:extLst>
          </p:cNvPr>
          <p:cNvSpPr txBox="1"/>
          <p:nvPr/>
        </p:nvSpPr>
        <p:spPr>
          <a:xfrm>
            <a:off x="368877" y="5782212"/>
            <a:ext cx="10260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mass ratio:</a:t>
            </a:r>
            <a:endParaRPr lang="en-US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D1435C2C-6CA2-4BC0-B178-2F0837897D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24" y="3548755"/>
            <a:ext cx="1453858" cy="65923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31E81129-4F51-49C5-94E0-A4E05585D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8524" y="5619425"/>
            <a:ext cx="1176763" cy="5942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52B0D74-4945-44E2-8411-98D1BAB53C91}"/>
                  </a:ext>
                </a:extLst>
              </p:cNvPr>
              <p:cNvSpPr txBox="1"/>
              <p:nvPr/>
            </p:nvSpPr>
            <p:spPr>
              <a:xfrm>
                <a:off x="4318091" y="3060314"/>
                <a:ext cx="2475073" cy="265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𝑠𝑖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52B0D74-4945-44E2-8411-98D1BAB53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91" y="3060314"/>
                <a:ext cx="2475073" cy="265201"/>
              </a:xfrm>
              <a:prstGeom prst="rect">
                <a:avLst/>
              </a:prstGeom>
              <a:blipFill>
                <a:blip r:embed="rId8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91ECD19-CC5B-4ACE-9BA9-3565735E796E}"/>
                  </a:ext>
                </a:extLst>
              </p:cNvPr>
              <p:cNvSpPr txBox="1"/>
              <p:nvPr/>
            </p:nvSpPr>
            <p:spPr>
              <a:xfrm>
                <a:off x="7899772" y="2997162"/>
                <a:ext cx="168815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𝑏𝑖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91ECD19-CC5B-4ACE-9BA9-3565735E7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772" y="2997162"/>
                <a:ext cx="1688154" cy="246221"/>
              </a:xfrm>
              <a:prstGeom prst="rect">
                <a:avLst/>
              </a:prstGeom>
              <a:blipFill>
                <a:blip r:embed="rId9"/>
                <a:stretch>
                  <a:fillRect l="-2527" r="-361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9E80CD0-827B-499C-8FF0-96A02B872098}"/>
                  </a:ext>
                </a:extLst>
              </p:cNvPr>
              <p:cNvSpPr txBox="1"/>
              <p:nvPr/>
            </p:nvSpPr>
            <p:spPr>
              <a:xfrm>
                <a:off x="4515917" y="5052943"/>
                <a:ext cx="823109" cy="50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𝑜𝑖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9E80CD0-827B-499C-8FF0-96A02B872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917" y="5052943"/>
                <a:ext cx="823109" cy="5025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9AB7B495-0D67-484C-86C6-5CB885B4D29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80833"/>
          <a:stretch/>
        </p:blipFill>
        <p:spPr>
          <a:xfrm>
            <a:off x="3869744" y="271554"/>
            <a:ext cx="2942822" cy="851383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50514107-9B97-4900-9352-3DF42D0AC013}"/>
              </a:ext>
            </a:extLst>
          </p:cNvPr>
          <p:cNvSpPr txBox="1"/>
          <p:nvPr/>
        </p:nvSpPr>
        <p:spPr>
          <a:xfrm>
            <a:off x="446975" y="5942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Payload ratio:</a:t>
            </a:r>
          </a:p>
        </p:txBody>
      </p:sp>
    </p:spTree>
    <p:extLst>
      <p:ext uri="{BB962C8B-B14F-4D97-AF65-F5344CB8AC3E}">
        <p14:creationId xmlns:p14="http://schemas.microsoft.com/office/powerpoint/2010/main" val="3465473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7D1DF7-F1AC-4F84-9AFA-A9F4C7BF570B}"/>
                  </a:ext>
                </a:extLst>
              </p:cNvPr>
              <p:cNvSpPr txBox="1"/>
              <p:nvPr/>
            </p:nvSpPr>
            <p:spPr>
              <a:xfrm>
                <a:off x="6267477" y="878125"/>
                <a:ext cx="6355976" cy="642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sup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𝑙𝑛𝑅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skw"/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7D1DF7-F1AC-4F84-9AFA-A9F4C7BF5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77" y="878125"/>
                <a:ext cx="6355976" cy="6429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76611E-349C-4120-8BAB-F9DACFD0F8A5}"/>
                  </a:ext>
                </a:extLst>
              </p:cNvPr>
              <p:cNvSpPr txBox="1"/>
              <p:nvPr/>
            </p:nvSpPr>
            <p:spPr>
              <a:xfrm>
                <a:off x="342539" y="958214"/>
                <a:ext cx="6544234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76611E-349C-4120-8BAB-F9DACFD0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39" y="958214"/>
                <a:ext cx="6544234" cy="357534"/>
              </a:xfrm>
              <a:prstGeom prst="rect">
                <a:avLst/>
              </a:prstGeom>
              <a:blipFill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1467CC9-C9DB-4606-9805-572F9EAFDF59}"/>
              </a:ext>
            </a:extLst>
          </p:cNvPr>
          <p:cNvSpPr txBox="1"/>
          <p:nvPr/>
        </p:nvSpPr>
        <p:spPr>
          <a:xfrm>
            <a:off x="4913189" y="993696"/>
            <a:ext cx="6799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Altitude at burnout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E9C384-301C-45EE-AF98-40360B34D6E4}"/>
                  </a:ext>
                </a:extLst>
              </p:cNvPr>
              <p:cNvSpPr txBox="1"/>
              <p:nvPr/>
            </p:nvSpPr>
            <p:spPr>
              <a:xfrm>
                <a:off x="268862" y="1823257"/>
                <a:ext cx="653975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rgbClr val="C00000"/>
                  </a:buClr>
                </a:pPr>
                <a:r>
                  <a:rPr lang="en-US" sz="1600" b="1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sz="1600" b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ltitude  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𝐭</m:t>
                        </m:r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&lt;</m:t>
                        </m:r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𝐛</m:t>
                        </m:r>
                      </m:sub>
                    </m:sSub>
                  </m:oMath>
                </a14:m>
                <a:endPara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E9C384-301C-45EE-AF98-40360B34D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62" y="1823257"/>
                <a:ext cx="6539752" cy="338554"/>
              </a:xfrm>
              <a:prstGeom prst="rect">
                <a:avLst/>
              </a:prstGeom>
              <a:blipFill>
                <a:blip r:embed="rId4"/>
                <a:stretch>
                  <a:fillRect l="-466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ACA44A-6E4B-4861-A42B-CB651DD82377}"/>
                  </a:ext>
                </a:extLst>
              </p:cNvPr>
              <p:cNvSpPr txBox="1"/>
              <p:nvPr/>
            </p:nvSpPr>
            <p:spPr>
              <a:xfrm>
                <a:off x="2461959" y="1836032"/>
                <a:ext cx="7611035" cy="504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2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sz="12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p>
                        <m:sSup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ACA44A-6E4B-4861-A42B-CB651DD82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959" y="1836032"/>
                <a:ext cx="7611035" cy="504305"/>
              </a:xfrm>
              <a:prstGeom prst="rect">
                <a:avLst/>
              </a:prstGeom>
              <a:blipFill>
                <a:blip r:embed="rId5"/>
                <a:stretch>
                  <a:fillRect t="-50602" b="-86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1C3D6FD-2E42-4295-8877-76F7191CE507}"/>
                  </a:ext>
                </a:extLst>
              </p:cNvPr>
              <p:cNvSpPr txBox="1"/>
              <p:nvPr/>
            </p:nvSpPr>
            <p:spPr>
              <a:xfrm>
                <a:off x="3260443" y="2453229"/>
                <a:ext cx="2423506" cy="636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1C3D6FD-2E42-4295-8877-76F7191CE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443" y="2453229"/>
                <a:ext cx="2423506" cy="6360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0B89EE-9082-47C2-95B9-2BE27DF1A75B}"/>
                  </a:ext>
                </a:extLst>
              </p:cNvPr>
              <p:cNvSpPr txBox="1"/>
              <p:nvPr/>
            </p:nvSpPr>
            <p:spPr>
              <a:xfrm>
                <a:off x="3130242" y="3132704"/>
                <a:ext cx="6831106" cy="780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du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𝑒𝑞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1−1/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1−</m:t>
                            </m:r>
                            <m:d>
                              <m:d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1−1/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𝑔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  valid for t&lt;=t</a:t>
                </a:r>
                <a:r>
                  <a:rPr lang="en-US" sz="1600" baseline="-250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0B89EE-9082-47C2-95B9-2BE27DF1A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242" y="3132704"/>
                <a:ext cx="6831106" cy="7805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DC9578F3-2E75-467C-9097-C7C9F5A03420}"/>
              </a:ext>
            </a:extLst>
          </p:cNvPr>
          <p:cNvSpPr txBox="1"/>
          <p:nvPr/>
        </p:nvSpPr>
        <p:spPr>
          <a:xfrm>
            <a:off x="169922" y="968256"/>
            <a:ext cx="23325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Velocity at burnout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BF7861-93C5-4135-A24C-3C02BD494F39}"/>
              </a:ext>
            </a:extLst>
          </p:cNvPr>
          <p:cNvSpPr txBox="1"/>
          <p:nvPr/>
        </p:nvSpPr>
        <p:spPr>
          <a:xfrm>
            <a:off x="252812" y="3367813"/>
            <a:ext cx="78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Rocket’s acceleration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D16D4D-043A-4A11-BBEE-CE95A3CE9F81}"/>
              </a:ext>
            </a:extLst>
          </p:cNvPr>
          <p:cNvSpPr txBox="1"/>
          <p:nvPr/>
        </p:nvSpPr>
        <p:spPr>
          <a:xfrm>
            <a:off x="252812" y="2514742"/>
            <a:ext cx="7898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Maximum Altitude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49C045-5A6B-4F1F-BDB6-F55FC06A5796}"/>
              </a:ext>
            </a:extLst>
          </p:cNvPr>
          <p:cNvSpPr txBox="1"/>
          <p:nvPr/>
        </p:nvSpPr>
        <p:spPr>
          <a:xfrm>
            <a:off x="254595" y="40445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-stage Rockets:</a:t>
            </a:r>
            <a:endParaRPr lang="en-US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0F1E75-87B5-4151-B87A-2654A0041322}"/>
                  </a:ext>
                </a:extLst>
              </p:cNvPr>
              <p:cNvSpPr txBox="1"/>
              <p:nvPr/>
            </p:nvSpPr>
            <p:spPr>
              <a:xfrm>
                <a:off x="9706821" y="3753328"/>
                <a:ext cx="1835513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0F1E75-87B5-4151-B87A-2654A0041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821" y="3753328"/>
                <a:ext cx="1835513" cy="7645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86BA46E-25AB-47D0-BCA3-26629478EA49}"/>
                  </a:ext>
                </a:extLst>
              </p:cNvPr>
              <p:cNvSpPr txBox="1"/>
              <p:nvPr/>
            </p:nvSpPr>
            <p:spPr>
              <a:xfrm>
                <a:off x="2997476" y="4050061"/>
                <a:ext cx="60975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𝑙𝑛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86BA46E-25AB-47D0-BCA3-26629478E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476" y="4050061"/>
                <a:ext cx="609755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F4DED55C-D872-4270-85A6-4FF4FBE50338}"/>
              </a:ext>
            </a:extLst>
          </p:cNvPr>
          <p:cNvSpPr txBox="1"/>
          <p:nvPr/>
        </p:nvSpPr>
        <p:spPr>
          <a:xfrm>
            <a:off x="2997476" y="4066802"/>
            <a:ext cx="2156788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velocity increment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825B49-49C1-445D-A737-8F268D5E3024}"/>
              </a:ext>
            </a:extLst>
          </p:cNvPr>
          <p:cNvSpPr txBox="1"/>
          <p:nvPr/>
        </p:nvSpPr>
        <p:spPr>
          <a:xfrm>
            <a:off x="7269810" y="4099086"/>
            <a:ext cx="221291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terminal velocity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D13D45-730D-4FC7-B9D4-EBD3F2885F93}"/>
              </a:ext>
            </a:extLst>
          </p:cNvPr>
          <p:cNvSpPr txBox="1"/>
          <p:nvPr/>
        </p:nvSpPr>
        <p:spPr>
          <a:xfrm>
            <a:off x="169922" y="477761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exhaust velocities are all the same</a:t>
            </a:r>
            <a:r>
              <a:rPr lang="en-US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EBE652-8CBD-4F46-B0DD-049127F96939}"/>
                  </a:ext>
                </a:extLst>
              </p:cNvPr>
              <p:cNvSpPr txBox="1"/>
              <p:nvPr/>
            </p:nvSpPr>
            <p:spPr>
              <a:xfrm>
                <a:off x="2997476" y="4618056"/>
                <a:ext cx="6097554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EBE652-8CBD-4F46-B0DD-049127F96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476" y="4618056"/>
                <a:ext cx="6097554" cy="7645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58AC1D1-1197-4015-A14A-867135E6FF59}"/>
                  </a:ext>
                </a:extLst>
              </p:cNvPr>
              <p:cNvSpPr txBox="1"/>
              <p:nvPr/>
            </p:nvSpPr>
            <p:spPr>
              <a:xfrm>
                <a:off x="7024994" y="5452846"/>
                <a:ext cx="6096000" cy="1111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𝑛𝑙𝑛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01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𝐿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58AC1D1-1197-4015-A14A-867135E6F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994" y="5452846"/>
                <a:ext cx="6096000" cy="11118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541654-167D-42A8-9593-7B32FE031DC2}"/>
                  </a:ext>
                </a:extLst>
              </p:cNvPr>
              <p:cNvSpPr txBox="1"/>
              <p:nvPr/>
            </p:nvSpPr>
            <p:spPr>
              <a:xfrm>
                <a:off x="2919159" y="5776050"/>
                <a:ext cx="6696634" cy="579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limLow>
                      <m:limLow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lim>
                    </m:limLow>
                    <m:d>
                      <m:dPr>
                        <m:begChr m:val="{"/>
                        <m:endChr m:val="}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𝑛𝑙𝑛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01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16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541654-167D-42A8-9593-7B32FE031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59" y="5776050"/>
                <a:ext cx="6696634" cy="5793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7602EB34-1B2B-4814-9CE4-B3BB815064A8}"/>
              </a:ext>
            </a:extLst>
          </p:cNvPr>
          <p:cNvSpPr txBox="1"/>
          <p:nvPr/>
        </p:nvSpPr>
        <p:spPr>
          <a:xfrm>
            <a:off x="169922" y="5841291"/>
            <a:ext cx="7375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stages: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A0F3A3AC-9A80-4F51-B7F5-BC0AA78B7EC7}"/>
              </a:ext>
            </a:extLst>
          </p:cNvPr>
          <p:cNvSpPr txBox="1">
            <a:spLocks/>
          </p:cNvSpPr>
          <p:nvPr/>
        </p:nvSpPr>
        <p:spPr>
          <a:xfrm>
            <a:off x="121779" y="361291"/>
            <a:ext cx="1788459" cy="36933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Section2 :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36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DBE9-AAF2-4DEF-888D-9D9289C0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3991" y="1692709"/>
            <a:ext cx="5802107" cy="89238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342900" indent="-342900" algn="ctr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6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multistage Rocket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E2A94B-75E0-46A3-BF37-FDF858FE3F39}"/>
                  </a:ext>
                </a:extLst>
              </p:cNvPr>
              <p:cNvSpPr txBox="1"/>
              <p:nvPr/>
            </p:nvSpPr>
            <p:spPr>
              <a:xfrm>
                <a:off x="677610" y="2717784"/>
                <a:ext cx="1279453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𝑖𝑚𝑝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E2A94B-75E0-46A3-BF37-FDF858FE3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10" y="2717784"/>
                <a:ext cx="1279453" cy="318164"/>
              </a:xfrm>
              <a:prstGeom prst="rect">
                <a:avLst/>
              </a:prstGeom>
              <a:blipFill>
                <a:blip r:embed="rId2"/>
                <a:stretch>
                  <a:fillRect l="-6667" t="-19231" r="-10000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12FE67A-F289-4942-8313-30033224EF9B}"/>
                  </a:ext>
                </a:extLst>
              </p:cNvPr>
              <p:cNvSpPr txBox="1"/>
              <p:nvPr/>
            </p:nvSpPr>
            <p:spPr>
              <a:xfrm>
                <a:off x="3668966" y="2548722"/>
                <a:ext cx="2927327" cy="68050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fa-I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a-I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fa-I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12FE67A-F289-4942-8313-30033224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966" y="2548722"/>
                <a:ext cx="2927327" cy="680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6D0E6A-C10D-41E9-A099-0D8572679E68}"/>
                  </a:ext>
                </a:extLst>
              </p:cNvPr>
              <p:cNvSpPr txBox="1"/>
              <p:nvPr/>
            </p:nvSpPr>
            <p:spPr>
              <a:xfrm>
                <a:off x="620966" y="3499201"/>
                <a:ext cx="6096000" cy="484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1600" dirty="0"/>
                  <a:t>=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6D0E6A-C10D-41E9-A099-0D8572679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66" y="3499201"/>
                <a:ext cx="6096000" cy="4845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A6BB06-4709-4844-A910-81AB57E2AF01}"/>
                  </a:ext>
                </a:extLst>
              </p:cNvPr>
              <p:cNvSpPr txBox="1"/>
              <p:nvPr/>
            </p:nvSpPr>
            <p:spPr>
              <a:xfrm>
                <a:off x="3869808" y="3323097"/>
                <a:ext cx="2032462" cy="68050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fa-I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A6BB06-4709-4844-A910-81AB57E2A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808" y="3323097"/>
                <a:ext cx="2032462" cy="6805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F634B6AF-E075-4DB0-A72F-9CB0245CC618}"/>
              </a:ext>
            </a:extLst>
          </p:cNvPr>
          <p:cNvSpPr txBox="1"/>
          <p:nvPr/>
        </p:nvSpPr>
        <p:spPr>
          <a:xfrm>
            <a:off x="277234" y="4387355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Lagrange multiplier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BD6A00-671A-4E15-B434-FC5ACAC5886F}"/>
              </a:ext>
            </a:extLst>
          </p:cNvPr>
          <p:cNvSpPr txBox="1"/>
          <p:nvPr/>
        </p:nvSpPr>
        <p:spPr>
          <a:xfrm>
            <a:off x="6637516" y="2726271"/>
            <a:ext cx="37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8E3BE0-8148-4982-8022-67CCB4CFCA24}"/>
              </a:ext>
            </a:extLst>
          </p:cNvPr>
          <p:cNvSpPr txBox="1"/>
          <p:nvPr/>
        </p:nvSpPr>
        <p:spPr>
          <a:xfrm>
            <a:off x="6141173" y="3594393"/>
            <a:ext cx="281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BC66475-88A8-4981-94A2-ABE0A06B6996}"/>
                  </a:ext>
                </a:extLst>
              </p:cNvPr>
              <p:cNvSpPr txBox="1"/>
              <p:nvPr/>
            </p:nvSpPr>
            <p:spPr>
              <a:xfrm>
                <a:off x="2796924" y="4403221"/>
                <a:ext cx="334424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(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𝑔𝑒𝑡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𝑚𝑖𝑛𝑖𝑚𝑎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BC66475-88A8-4981-94A2-ABE0A06B6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924" y="4403221"/>
                <a:ext cx="3344249" cy="246221"/>
              </a:xfrm>
              <a:prstGeom prst="rect">
                <a:avLst/>
              </a:prstGeom>
              <a:blipFill>
                <a:blip r:embed="rId6"/>
                <a:stretch>
                  <a:fillRect l="-1095" r="-1825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9ECAA9-5BAC-4EC6-83F7-FE8C4943D1F2}"/>
                  </a:ext>
                </a:extLst>
              </p:cNvPr>
              <p:cNvSpPr txBox="1"/>
              <p:nvPr/>
            </p:nvSpPr>
            <p:spPr>
              <a:xfrm>
                <a:off x="3243494" y="5029213"/>
                <a:ext cx="3272117" cy="47346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𝑠𝑝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</a:t>
                </a: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89ECAA9-5BAC-4EC6-83F7-FE8C4943D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494" y="5029213"/>
                <a:ext cx="3272117" cy="473463"/>
              </a:xfrm>
              <a:prstGeom prst="rect">
                <a:avLst/>
              </a:prstGeom>
              <a:blipFill>
                <a:blip r:embed="rId7"/>
                <a:stretch>
                  <a:fillRect b="-250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C67B1DA-387F-485A-83A0-C6AE44986E56}"/>
                  </a:ext>
                </a:extLst>
              </p:cNvPr>
              <p:cNvSpPr txBox="1"/>
              <p:nvPr/>
            </p:nvSpPr>
            <p:spPr>
              <a:xfrm>
                <a:off x="277234" y="5165298"/>
                <a:ext cx="21620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independent :</a:t>
                </a: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C67B1DA-387F-485A-83A0-C6AE44986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34" y="5165298"/>
                <a:ext cx="2162002" cy="338554"/>
              </a:xfrm>
              <a:prstGeom prst="rect">
                <a:avLst/>
              </a:prstGeom>
              <a:blipFill>
                <a:blip r:embed="rId8"/>
                <a:stretch>
                  <a:fillRect l="-1408" t="-5357" r="-56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AD1C050-B10D-4FD0-AE46-DBEB5849D0A4}"/>
                  </a:ext>
                </a:extLst>
              </p:cNvPr>
              <p:cNvSpPr txBox="1"/>
              <p:nvPr/>
            </p:nvSpPr>
            <p:spPr>
              <a:xfrm>
                <a:off x="7881593" y="4974615"/>
                <a:ext cx="2965702" cy="58266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AD1C050-B10D-4FD0-AE46-DBEB5849D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593" y="4974615"/>
                <a:ext cx="2965702" cy="5826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3626F3E6-E99A-4321-BD1B-68F5A33AD09B}"/>
              </a:ext>
            </a:extLst>
          </p:cNvPr>
          <p:cNvSpPr txBox="1"/>
          <p:nvPr/>
        </p:nvSpPr>
        <p:spPr>
          <a:xfrm>
            <a:off x="6515611" y="5228224"/>
            <a:ext cx="376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B0F90C-1D23-4078-9163-7978E380B94A}"/>
              </a:ext>
            </a:extLst>
          </p:cNvPr>
          <p:cNvSpPr txBox="1"/>
          <p:nvPr/>
        </p:nvSpPr>
        <p:spPr>
          <a:xfrm>
            <a:off x="10963835" y="5155177"/>
            <a:ext cx="503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E48F232F-5169-4782-A7E6-4415AD3D20ED}"/>
              </a:ext>
            </a:extLst>
          </p:cNvPr>
          <p:cNvSpPr/>
          <p:nvPr/>
        </p:nvSpPr>
        <p:spPr>
          <a:xfrm>
            <a:off x="2474939" y="2833956"/>
            <a:ext cx="412377" cy="212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4B1E1536-EE5E-4A93-A5E7-7B8B5B9F123B}"/>
              </a:ext>
            </a:extLst>
          </p:cNvPr>
          <p:cNvSpPr/>
          <p:nvPr/>
        </p:nvSpPr>
        <p:spPr>
          <a:xfrm>
            <a:off x="2474939" y="3636918"/>
            <a:ext cx="448480" cy="212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428F0D-B8B4-4A41-ADD0-14528018F10C}"/>
                  </a:ext>
                </a:extLst>
              </p:cNvPr>
              <p:cNvSpPr txBox="1"/>
              <p:nvPr/>
            </p:nvSpPr>
            <p:spPr>
              <a:xfrm>
                <a:off x="195494" y="6086368"/>
                <a:ext cx="6096000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C00000"/>
                  </a:buClr>
                  <a:buFont typeface="Wingdings" panose="05000000000000000000" pitchFamily="2" charset="2"/>
                  <a:buChar char="§"/>
                </a:pP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obtain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𝑖𝑚𝑝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428F0D-B8B4-4A41-ADD0-14528018F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94" y="6086368"/>
                <a:ext cx="6096000" cy="357534"/>
              </a:xfrm>
              <a:prstGeom prst="rect">
                <a:avLst/>
              </a:prstGeom>
              <a:blipFill>
                <a:blip r:embed="rId10"/>
                <a:stretch>
                  <a:fillRect l="-400" t="-5085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E4D80D-B4B9-4B47-B91A-F43BDB19621F}"/>
                  </a:ext>
                </a:extLst>
              </p:cNvPr>
              <p:cNvSpPr txBox="1"/>
              <p:nvPr/>
            </p:nvSpPr>
            <p:spPr>
              <a:xfrm>
                <a:off x="3930959" y="5872242"/>
                <a:ext cx="267727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𝑖𝑚𝑝</m:t>
                          </m:r>
                        </m:sub>
                      </m:sSub>
                      <m:r>
                        <a:rPr lang="fa-I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a-I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fa-I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E4D80D-B4B9-4B47-B91A-F43BDB196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959" y="5872242"/>
                <a:ext cx="2677271" cy="6721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8B3646-7503-4015-8C0A-34D4AD5816DD}"/>
                  </a:ext>
                </a:extLst>
              </p:cNvPr>
              <p:cNvSpPr txBox="1"/>
              <p:nvPr/>
            </p:nvSpPr>
            <p:spPr>
              <a:xfrm>
                <a:off x="6291494" y="5674528"/>
                <a:ext cx="6243916" cy="928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a-I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∏"/>
                              <m:ctrlPr>
                                <a:rPr lang="fa-IR" sz="1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a-I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a-I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a-I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a-IR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fa-I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𝑠𝑝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  <m:sup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a-I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a-I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𝑖𝑚𝑝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8B3646-7503-4015-8C0A-34D4AD581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494" y="5674528"/>
                <a:ext cx="6243916" cy="9282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Right 24">
            <a:extLst>
              <a:ext uri="{FF2B5EF4-FFF2-40B4-BE49-F238E27FC236}">
                <a16:creationId xmlns:a16="http://schemas.microsoft.com/office/drawing/2014/main" id="{49BE1C0F-DE76-4BF1-A41A-75CD70C8A2FB}"/>
              </a:ext>
            </a:extLst>
          </p:cNvPr>
          <p:cNvSpPr/>
          <p:nvPr/>
        </p:nvSpPr>
        <p:spPr>
          <a:xfrm>
            <a:off x="7117152" y="6101477"/>
            <a:ext cx="447679" cy="3385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EBC96B-0605-433E-AF29-C3ED3EBD1844}"/>
                  </a:ext>
                </a:extLst>
              </p:cNvPr>
              <p:cNvSpPr txBox="1"/>
              <p:nvPr/>
            </p:nvSpPr>
            <p:spPr>
              <a:xfrm>
                <a:off x="589804" y="1166097"/>
                <a:ext cx="2688300" cy="246221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EBC96B-0605-433E-AF29-C3ED3EBD1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04" y="1166097"/>
                <a:ext cx="2688300" cy="246221"/>
              </a:xfrm>
              <a:prstGeom prst="rect">
                <a:avLst/>
              </a:prstGeom>
              <a:blipFill>
                <a:blip r:embed="rId13"/>
                <a:stretch>
                  <a:fillRect l="-1354" r="-2032" b="-2790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itle 1">
            <a:extLst>
              <a:ext uri="{FF2B5EF4-FFF2-40B4-BE49-F238E27FC236}">
                <a16:creationId xmlns:a16="http://schemas.microsoft.com/office/drawing/2014/main" id="{C1E87DEA-5974-45D7-A200-C1433746E611}"/>
              </a:ext>
            </a:extLst>
          </p:cNvPr>
          <p:cNvSpPr txBox="1">
            <a:spLocks/>
          </p:cNvSpPr>
          <p:nvPr/>
        </p:nvSpPr>
        <p:spPr>
          <a:xfrm>
            <a:off x="-641029" y="235188"/>
            <a:ext cx="4242248" cy="89238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ctr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Lagrange multiplier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591775-3B9B-4AD3-9A79-0CB0C9628655}"/>
                  </a:ext>
                </a:extLst>
              </p:cNvPr>
              <p:cNvSpPr txBox="1"/>
              <p:nvPr/>
            </p:nvSpPr>
            <p:spPr>
              <a:xfrm>
                <a:off x="4419272" y="1058856"/>
                <a:ext cx="2519723" cy="768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591775-3B9B-4AD3-9A79-0CB0C9628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2" y="1058856"/>
                <a:ext cx="2519723" cy="7684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CA24430-F6D7-4EDF-98B7-84340AD049CC}"/>
                  </a:ext>
                </a:extLst>
              </p:cNvPr>
              <p:cNvSpPr txBox="1"/>
              <p:nvPr/>
            </p:nvSpPr>
            <p:spPr>
              <a:xfrm>
                <a:off x="7288290" y="797246"/>
                <a:ext cx="6096000" cy="499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CA24430-F6D7-4EDF-98B7-84340AD04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290" y="797246"/>
                <a:ext cx="6096000" cy="499560"/>
              </a:xfrm>
              <a:prstGeom prst="rect">
                <a:avLst/>
              </a:prstGeom>
              <a:blipFill>
                <a:blip r:embed="rId15"/>
                <a:stretch>
                  <a:fillRect b="-6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D6FFFE3-E167-48BA-8036-4092963665ED}"/>
                  </a:ext>
                </a:extLst>
              </p:cNvPr>
              <p:cNvSpPr txBox="1"/>
              <p:nvPr/>
            </p:nvSpPr>
            <p:spPr>
              <a:xfrm>
                <a:off x="7288290" y="1296806"/>
                <a:ext cx="6096000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D6FFFE3-E167-48BA-8036-409296366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290" y="1296806"/>
                <a:ext cx="6096000" cy="530530"/>
              </a:xfrm>
              <a:prstGeom prst="rect">
                <a:avLst/>
              </a:prstGeom>
              <a:blipFill>
                <a:blip r:embed="rId16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0B36F8A-007E-4401-8589-B5DF005C274D}"/>
                  </a:ext>
                </a:extLst>
              </p:cNvPr>
              <p:cNvSpPr txBox="1"/>
              <p:nvPr/>
            </p:nvSpPr>
            <p:spPr>
              <a:xfrm>
                <a:off x="10082813" y="1014023"/>
                <a:ext cx="6212540" cy="53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𝛿𝜂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</a:t>
                </a:r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0B36F8A-007E-4401-8589-B5DF005C2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813" y="1014023"/>
                <a:ext cx="6212540" cy="530530"/>
              </a:xfrm>
              <a:prstGeom prst="rect">
                <a:avLst/>
              </a:prstGeom>
              <a:blipFill>
                <a:blip r:embed="rId17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e 31">
            <a:extLst>
              <a:ext uri="{FF2B5EF4-FFF2-40B4-BE49-F238E27FC236}">
                <a16:creationId xmlns:a16="http://schemas.microsoft.com/office/drawing/2014/main" id="{5E69ED9D-C527-452D-9627-F972EEEDC26E}"/>
              </a:ext>
            </a:extLst>
          </p:cNvPr>
          <p:cNvSpPr/>
          <p:nvPr/>
        </p:nvSpPr>
        <p:spPr>
          <a:xfrm>
            <a:off x="6946014" y="918563"/>
            <a:ext cx="342276" cy="802663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50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816089-9146-4A75-BFCE-737F9434CDD5}"/>
              </a:ext>
            </a:extLst>
          </p:cNvPr>
          <p:cNvSpPr txBox="1"/>
          <p:nvPr/>
        </p:nvSpPr>
        <p:spPr>
          <a:xfrm>
            <a:off x="426015" y="85623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Continuity equation</a:t>
            </a:r>
          </a:p>
          <a:p>
            <a:pPr marL="400050" indent="-40005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400050" indent="-4000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Momentum equation</a:t>
            </a:r>
          </a:p>
          <a:p>
            <a:pPr marL="400050" indent="-40005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Energy equation (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 law)</a:t>
            </a: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buClr>
                <a:schemeClr val="accent1"/>
              </a:buClr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II Law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DF67A1C7-6DD4-4F61-8363-7A5B5CCD46AB}"/>
              </a:ext>
            </a:extLst>
          </p:cNvPr>
          <p:cNvSpPr/>
          <p:nvPr/>
        </p:nvSpPr>
        <p:spPr>
          <a:xfrm>
            <a:off x="7842615" y="1665313"/>
            <a:ext cx="1303949" cy="1624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331AAC-E832-41D5-A516-9C6BE6745A04}"/>
              </a:ext>
            </a:extLst>
          </p:cNvPr>
          <p:cNvSpPr txBox="1"/>
          <p:nvPr/>
        </p:nvSpPr>
        <p:spPr>
          <a:xfrm>
            <a:off x="7819118" y="1776978"/>
            <a:ext cx="232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impulse function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CDFC2706-EBF2-47A2-8457-DBEBB5AFCF60}"/>
              </a:ext>
            </a:extLst>
          </p:cNvPr>
          <p:cNvSpPr/>
          <p:nvPr/>
        </p:nvSpPr>
        <p:spPr>
          <a:xfrm>
            <a:off x="7301607" y="2566609"/>
            <a:ext cx="1303949" cy="1624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085FC-6955-4BC6-8571-C5556893A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211" y="959909"/>
            <a:ext cx="1272650" cy="304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6167FB-038D-4E0A-9D15-1B6B5E62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270" y="1521094"/>
            <a:ext cx="3406435" cy="4343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7CEBB-003F-4B2E-9246-CDF9558B6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440" y="1313384"/>
            <a:ext cx="1386960" cy="3200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67B469-B716-49B5-BC64-7C40097FE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6563" y="1257553"/>
            <a:ext cx="1188823" cy="2133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4F4970-30E9-4235-A2FB-27DA99062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371" y="2309098"/>
            <a:ext cx="3276884" cy="510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6ED977D-FF17-419D-A3C9-29B7ACC8A06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087"/>
          <a:stretch/>
        </p:blipFill>
        <p:spPr>
          <a:xfrm>
            <a:off x="7212631" y="2733448"/>
            <a:ext cx="1303950" cy="4080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8C1E4A-653D-446B-8D2D-D9F201A777C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36391"/>
          <a:stretch/>
        </p:blipFill>
        <p:spPr>
          <a:xfrm>
            <a:off x="7301607" y="2034324"/>
            <a:ext cx="1276023" cy="53006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D8DE795-2099-4CB4-B436-FA6CC7DF51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6564" y="2385215"/>
            <a:ext cx="2705334" cy="6248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A707A5D-A9DA-4A9F-B574-63AF0D489F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4770" y="3772820"/>
            <a:ext cx="1905165" cy="39225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EDB645B-49D3-4FF3-80A8-C2F57A1221D6}"/>
              </a:ext>
            </a:extLst>
          </p:cNvPr>
          <p:cNvSpPr txBox="1"/>
          <p:nvPr/>
        </p:nvSpPr>
        <p:spPr>
          <a:xfrm>
            <a:off x="426015" y="4376229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reversible, adiabatic process (isentropic process), 𝑠2=𝑠1.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149972-8C46-42A2-89B6-B81B479E7D47}"/>
              </a:ext>
            </a:extLst>
          </p:cNvPr>
          <p:cNvSpPr txBox="1"/>
          <p:nvPr/>
        </p:nvSpPr>
        <p:spPr>
          <a:xfrm>
            <a:off x="6738563" y="44614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diabatic process,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𝑄̇=𝓆̇=0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and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𝑠2≥𝑠1 </a:t>
            </a:r>
            <a:endParaRPr lang="en-US" sz="16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FE4520-16BD-4F67-B1E5-9CE615C443D0}"/>
              </a:ext>
            </a:extLst>
          </p:cNvPr>
          <p:cNvSpPr txBox="1"/>
          <p:nvPr/>
        </p:nvSpPr>
        <p:spPr>
          <a:xfrm>
            <a:off x="5478670" y="4106057"/>
            <a:ext cx="3156508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heat transfer per unit area per unit time </a:t>
            </a:r>
            <a:endParaRPr lang="en-US" sz="14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10E76F2-B480-42C0-B77B-064FFE0C30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6563" y="1633452"/>
            <a:ext cx="1889924" cy="40389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DDA0D64-72C6-458A-8746-E2932C6AC1FD}"/>
              </a:ext>
            </a:extLst>
          </p:cNvPr>
          <p:cNvSpPr txBox="1"/>
          <p:nvPr/>
        </p:nvSpPr>
        <p:spPr>
          <a:xfrm>
            <a:off x="3712371" y="2967761"/>
            <a:ext cx="2845414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heat addition into the control volume </a:t>
            </a:r>
            <a:endParaRPr lang="en-US" sz="1400" dirty="0"/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AD780CCF-8B41-4358-A6E0-CD8E9BB485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26286" y="2763976"/>
            <a:ext cx="739911" cy="203152"/>
          </a:xfrm>
          <a:prstGeom prst="curvedConnector3">
            <a:avLst>
              <a:gd name="adj1" fmla="val 972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FF240492-B656-485C-B5A8-156CC08FBD85}"/>
              </a:ext>
            </a:extLst>
          </p:cNvPr>
          <p:cNvCxnSpPr>
            <a:cxnSpLocks/>
          </p:cNvCxnSpPr>
          <p:nvPr/>
        </p:nvCxnSpPr>
        <p:spPr>
          <a:xfrm rot="5400000">
            <a:off x="6651872" y="2934078"/>
            <a:ext cx="342182" cy="3296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0A5F1FC-2EB1-4D0A-9261-19DA337E4AB9}"/>
              </a:ext>
            </a:extLst>
          </p:cNvPr>
          <p:cNvSpPr txBox="1"/>
          <p:nvPr/>
        </p:nvSpPr>
        <p:spPr>
          <a:xfrm>
            <a:off x="5403750" y="3319355"/>
            <a:ext cx="3617760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work done by the control volume per unit time </a:t>
            </a:r>
            <a:endParaRPr lang="en-US" sz="1400" dirty="0"/>
          </a:p>
        </p:txBody>
      </p: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00271AF0-DD43-49BF-9DD3-0B4E92172A9B}"/>
              </a:ext>
            </a:extLst>
          </p:cNvPr>
          <p:cNvCxnSpPr>
            <a:cxnSpLocks/>
          </p:cNvCxnSpPr>
          <p:nvPr/>
        </p:nvCxnSpPr>
        <p:spPr>
          <a:xfrm>
            <a:off x="4576543" y="4195360"/>
            <a:ext cx="558535" cy="77190"/>
          </a:xfrm>
          <a:prstGeom prst="curvedConnector3">
            <a:avLst>
              <a:gd name="adj1" fmla="val 130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3">
            <a:extLst>
              <a:ext uri="{FF2B5EF4-FFF2-40B4-BE49-F238E27FC236}">
                <a16:creationId xmlns:a16="http://schemas.microsoft.com/office/drawing/2014/main" id="{6008EF4D-7BE4-4D65-9E6B-80838D414A37}"/>
              </a:ext>
            </a:extLst>
          </p:cNvPr>
          <p:cNvSpPr txBox="1">
            <a:spLocks/>
          </p:cNvSpPr>
          <p:nvPr/>
        </p:nvSpPr>
        <p:spPr>
          <a:xfrm>
            <a:off x="426015" y="5390496"/>
            <a:ext cx="9875838" cy="3416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Stagnation state (u = 0)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94F8F1B-66C8-4629-837E-45DF5300CD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09578" y="5345893"/>
            <a:ext cx="1226926" cy="8001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920A751-52C7-4F91-8918-C1F1D2F121A5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-1" t="1" r="73491" b="304"/>
          <a:stretch/>
        </p:blipFill>
        <p:spPr>
          <a:xfrm>
            <a:off x="6070695" y="5224548"/>
            <a:ext cx="748856" cy="5339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BAF20C9-3DA7-4D18-9D24-21355B1A81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253" y="5930019"/>
            <a:ext cx="2575783" cy="5486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78E5579-EEA9-4A2F-8498-C521AC776F0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6981" t="1" b="304"/>
          <a:stretch/>
        </p:blipFill>
        <p:spPr>
          <a:xfrm>
            <a:off x="5898046" y="5824688"/>
            <a:ext cx="1780194" cy="53399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73198AA-02DD-4461-8341-DB455297D3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0309" y="5502472"/>
            <a:ext cx="1234547" cy="55630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9" name="Arrow: Right 38">
            <a:extLst>
              <a:ext uri="{FF2B5EF4-FFF2-40B4-BE49-F238E27FC236}">
                <a16:creationId xmlns:a16="http://schemas.microsoft.com/office/drawing/2014/main" id="{5634E55D-96C5-4091-B199-0FCA18EAF5DE}"/>
              </a:ext>
            </a:extLst>
          </p:cNvPr>
          <p:cNvSpPr/>
          <p:nvPr/>
        </p:nvSpPr>
        <p:spPr>
          <a:xfrm flipV="1">
            <a:off x="8296446" y="5677443"/>
            <a:ext cx="705528" cy="2850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76109E71-C944-4419-8410-F83DB663EE23}"/>
              </a:ext>
            </a:extLst>
          </p:cNvPr>
          <p:cNvSpPr txBox="1">
            <a:spLocks/>
          </p:cNvSpPr>
          <p:nvPr/>
        </p:nvSpPr>
        <p:spPr>
          <a:xfrm>
            <a:off x="121779" y="361291"/>
            <a:ext cx="1788459" cy="36933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Section3 :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197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DA5E2F1-F371-4E84-A57B-9BB2F6CA5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042" y="273159"/>
            <a:ext cx="2918713" cy="7773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8DC3D8-4A4F-4114-A810-73C37299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346" y="527363"/>
            <a:ext cx="2110923" cy="3200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1A504DB-04E8-413A-A106-AF60657C78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5311" t="-5105" r="5133" b="5106"/>
          <a:stretch/>
        </p:blipFill>
        <p:spPr>
          <a:xfrm>
            <a:off x="7725871" y="1295456"/>
            <a:ext cx="4046110" cy="5486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3AF50C7-8DF6-4726-90D8-20F310E0F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718" y="1295456"/>
            <a:ext cx="2537680" cy="4343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8A9793-2B00-4EF3-B0B4-9764A9FC30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384" y="936484"/>
            <a:ext cx="1585097" cy="381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4EBBBF7-50D6-4AD5-AFF1-BA3453349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883" y="2851845"/>
            <a:ext cx="3589331" cy="66299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4B7D59B-D4BE-4D0F-86C4-3B786A207C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2768" y="2252988"/>
            <a:ext cx="3657917" cy="63251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E24BF0C-B333-4CB7-AFE4-A3C26FB7F2A4}"/>
              </a:ext>
            </a:extLst>
          </p:cNvPr>
          <p:cNvSpPr txBox="1"/>
          <p:nvPr/>
        </p:nvSpPr>
        <p:spPr>
          <a:xfrm>
            <a:off x="312443" y="2401416"/>
            <a:ext cx="9854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in isentropic flow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53A354-6F11-4170-BE82-C333BB716262}"/>
              </a:ext>
            </a:extLst>
          </p:cNvPr>
          <p:cNvSpPr txBox="1"/>
          <p:nvPr/>
        </p:nvSpPr>
        <p:spPr>
          <a:xfrm>
            <a:off x="397274" y="4570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law: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FFDB7083-DDF0-4240-A1D5-AC0AA1559351}"/>
              </a:ext>
            </a:extLst>
          </p:cNvPr>
          <p:cNvSpPr/>
          <p:nvPr/>
        </p:nvSpPr>
        <p:spPr>
          <a:xfrm>
            <a:off x="6493274" y="561968"/>
            <a:ext cx="1203553" cy="230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D4933E-03A1-43E3-8AB2-97CE0355AF0F}"/>
              </a:ext>
            </a:extLst>
          </p:cNvPr>
          <p:cNvSpPr txBox="1"/>
          <p:nvPr/>
        </p:nvSpPr>
        <p:spPr>
          <a:xfrm>
            <a:off x="397532" y="13175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Law: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5A7790EA-7016-4704-A67D-BEBF99054CA2}"/>
              </a:ext>
            </a:extLst>
          </p:cNvPr>
          <p:cNvSpPr/>
          <p:nvPr/>
        </p:nvSpPr>
        <p:spPr>
          <a:xfrm>
            <a:off x="6493274" y="1490914"/>
            <a:ext cx="1203553" cy="230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2EF53A-1C31-4470-8C33-DC11C0CA89C9}"/>
              </a:ext>
            </a:extLst>
          </p:cNvPr>
          <p:cNvSpPr txBox="1"/>
          <p:nvPr/>
        </p:nvSpPr>
        <p:spPr>
          <a:xfrm>
            <a:off x="311666" y="4947199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 number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967DB8-2D6E-48F4-BA79-6868195228CC}"/>
              </a:ext>
            </a:extLst>
          </p:cNvPr>
          <p:cNvSpPr txBox="1"/>
          <p:nvPr/>
        </p:nvSpPr>
        <p:spPr>
          <a:xfrm>
            <a:off x="397532" y="3824046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gas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1A36F3-33A9-479F-9D02-EACD99C80BD0}"/>
              </a:ext>
            </a:extLst>
          </p:cNvPr>
          <p:cNvSpPr txBox="1"/>
          <p:nvPr/>
        </p:nvSpPr>
        <p:spPr>
          <a:xfrm>
            <a:off x="311666" y="5861142"/>
            <a:ext cx="7015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flow rate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F0B0E11-2D68-46CB-8F5A-CD8348AB93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1459" y="3733818"/>
            <a:ext cx="1653683" cy="5029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200D7EC-90DD-450D-8C3E-1C3F4FE21C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1293" y="3651950"/>
            <a:ext cx="824896" cy="2964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1F9BB7D-C8C2-4E0F-8296-8155FD773E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6740" y="3661422"/>
            <a:ext cx="2903472" cy="548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65CAE3B-9A82-4B36-84F2-8376509DE4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29347" y="5733213"/>
            <a:ext cx="3284505" cy="59441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2E99220-2742-4EBC-90BD-14896D99554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1464" y="2298884"/>
            <a:ext cx="930232" cy="55226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B7C3982-B602-4140-86A5-196E7996BEF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29347" y="3661422"/>
            <a:ext cx="1356478" cy="647756"/>
          </a:xfrm>
          <a:prstGeom prst="rect">
            <a:avLst/>
          </a:prstGeom>
        </p:spPr>
      </p:pic>
      <p:sp>
        <p:nvSpPr>
          <p:cNvPr id="41" name="Arrow: Right 40">
            <a:extLst>
              <a:ext uri="{FF2B5EF4-FFF2-40B4-BE49-F238E27FC236}">
                <a16:creationId xmlns:a16="http://schemas.microsoft.com/office/drawing/2014/main" id="{B35E29EB-24D9-4A6A-93B7-E3480F593B72}"/>
              </a:ext>
            </a:extLst>
          </p:cNvPr>
          <p:cNvSpPr/>
          <p:nvPr/>
        </p:nvSpPr>
        <p:spPr>
          <a:xfrm>
            <a:off x="4616689" y="3951113"/>
            <a:ext cx="1203553" cy="230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6EFF515-C41F-4FE0-9AC1-46A393E64A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89904" y="5009294"/>
            <a:ext cx="741078" cy="4399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A189F9-5F1D-4F61-9B73-D09F0E912AD5}"/>
                  </a:ext>
                </a:extLst>
              </p:cNvPr>
              <p:cNvSpPr txBox="1"/>
              <p:nvPr/>
            </p:nvSpPr>
            <p:spPr>
              <a:xfrm>
                <a:off x="4521863" y="4210110"/>
                <a:ext cx="1470042" cy="351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acc>
                          <m:accPr>
                            <m:chr m:val="̅"/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  <m:acc>
                          <m:accPr>
                            <m:chr m:val="̅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A189F9-5F1D-4F61-9B73-D09F0E912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863" y="4210110"/>
                <a:ext cx="1470042" cy="351186"/>
              </a:xfrm>
              <a:prstGeom prst="rect">
                <a:avLst/>
              </a:prstGeom>
              <a:blipFill>
                <a:blip r:embed="rId15"/>
                <a:stretch>
                  <a:fillRect l="-3320" b="-1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225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3D1A-369B-4AC5-A2DE-BCA7D204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75" y="912495"/>
            <a:ext cx="2998694" cy="406235"/>
          </a:xfr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ctr"/>
            <a:r>
              <a:rPr lang="en-US" sz="18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 Velocity:</a:t>
            </a:r>
            <a:br>
              <a:rPr lang="en-US" sz="18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72EF0-F052-464A-B2B4-A4AA620B6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870" y="545275"/>
            <a:ext cx="2034862" cy="1095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99891C-F718-4ABC-9DD2-7434B905E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489" y="1345555"/>
            <a:ext cx="1809231" cy="746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790752-72DC-44F5-A45E-A5928897EE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986" b="5434"/>
          <a:stretch/>
        </p:blipFill>
        <p:spPr>
          <a:xfrm>
            <a:off x="5542044" y="1032137"/>
            <a:ext cx="1372299" cy="46973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24F227E5-6DA7-4398-A328-9596CC65F9E3}"/>
              </a:ext>
            </a:extLst>
          </p:cNvPr>
          <p:cNvSpPr txBox="1">
            <a:spLocks/>
          </p:cNvSpPr>
          <p:nvPr/>
        </p:nvSpPr>
        <p:spPr>
          <a:xfrm>
            <a:off x="10225" y="1309976"/>
            <a:ext cx="2998694" cy="406235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Thrust Coefficient: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1C5DEFB-C10F-49E5-BF51-BA03F62F1B74}"/>
              </a:ext>
            </a:extLst>
          </p:cNvPr>
          <p:cNvSpPr txBox="1">
            <a:spLocks/>
          </p:cNvSpPr>
          <p:nvPr/>
        </p:nvSpPr>
        <p:spPr>
          <a:xfrm>
            <a:off x="318247" y="2440654"/>
            <a:ext cx="11331390" cy="57867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r>
              <a:rPr kumimoji="0" lang="el-GR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Ι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 law across combustion: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800" dirty="0">
              <a:solidFill>
                <a:sysClr val="windowText" lastClr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>
              <a:buFont typeface="Wingdings" panose="05000000000000000000" pitchFamily="2" charset="2"/>
              <a:buChar char="v"/>
              <a:defRPr/>
            </a:pPr>
            <a:r>
              <a:rPr kumimoji="0" lang="el-GR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Ι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 law across nozzle:</a:t>
            </a: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-22860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D62586B-76A8-4AD6-83ED-BEBC052A9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880" y="766185"/>
            <a:ext cx="3465311" cy="20101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7FBB07-977B-4DAD-A36E-D120F79A3EC4}"/>
                  </a:ext>
                </a:extLst>
              </p:cNvPr>
              <p:cNvSpPr txBox="1"/>
              <p:nvPr/>
            </p:nvSpPr>
            <p:spPr>
              <a:xfrm>
                <a:off x="2407388" y="2766922"/>
                <a:ext cx="6096000" cy="548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7FBB07-977B-4DAD-A36E-D120F79A3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88" y="2766922"/>
                <a:ext cx="6096000" cy="548805"/>
              </a:xfrm>
              <a:prstGeom prst="rect">
                <a:avLst/>
              </a:prstGeom>
              <a:blipFill>
                <a:blip r:embed="rId6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A19927-C5EA-48A4-9C3A-C73B28F7F1E8}"/>
                  </a:ext>
                </a:extLst>
              </p:cNvPr>
              <p:cNvSpPr txBox="1"/>
              <p:nvPr/>
            </p:nvSpPr>
            <p:spPr>
              <a:xfrm>
                <a:off x="9643966" y="297631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A19927-C5EA-48A4-9C3A-C73B28F7F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966" y="2976313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8D8C359-0549-4C2A-BB83-88673C3EC059}"/>
              </a:ext>
            </a:extLst>
          </p:cNvPr>
          <p:cNvSpPr txBox="1"/>
          <p:nvPr/>
        </p:nvSpPr>
        <p:spPr>
          <a:xfrm>
            <a:off x="317847" y="4273330"/>
            <a:ext cx="6096000" cy="130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Mach number at the nozzle exit :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Nozzle area ratio :</a:t>
            </a:r>
            <a:endParaRPr lang="en-US" sz="2000" dirty="0">
              <a:solidFill>
                <a:sysClr val="windowText" lastClr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The jet pressure at nozzle exit 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5AC57D-0935-4DD4-B9A3-01886BE4DE3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474" b="14946"/>
          <a:stretch/>
        </p:blipFill>
        <p:spPr>
          <a:xfrm>
            <a:off x="5648765" y="4618582"/>
            <a:ext cx="3532226" cy="5343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6CB328-2F0F-4656-981E-C948E33BA682}"/>
                  </a:ext>
                </a:extLst>
              </p:cNvPr>
              <p:cNvSpPr txBox="1"/>
              <p:nvPr/>
            </p:nvSpPr>
            <p:spPr>
              <a:xfrm>
                <a:off x="6041103" y="5170822"/>
                <a:ext cx="6279776" cy="549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6CB328-2F0F-4656-981E-C948E33BA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103" y="5170822"/>
                <a:ext cx="6279776" cy="54995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4E0526-90A7-4D68-BA80-19AA2B1CB966}"/>
                  </a:ext>
                </a:extLst>
              </p:cNvPr>
              <p:cNvSpPr txBox="1"/>
              <p:nvPr/>
            </p:nvSpPr>
            <p:spPr>
              <a:xfrm>
                <a:off x="7527085" y="2893699"/>
                <a:ext cx="1411156" cy="483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02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4E0526-90A7-4D68-BA80-19AA2B1CB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085" y="2893699"/>
                <a:ext cx="1411156" cy="483594"/>
              </a:xfrm>
              <a:prstGeom prst="rect">
                <a:avLst/>
              </a:prstGeom>
              <a:blipFill>
                <a:blip r:embed="rId10"/>
                <a:stretch>
                  <a:fillRect l="-6061" r="-19913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35B43B9-F05E-4CE7-AB4A-5E0A29E33EEC}"/>
              </a:ext>
            </a:extLst>
          </p:cNvPr>
          <p:cNvSpPr txBox="1"/>
          <p:nvPr/>
        </p:nvSpPr>
        <p:spPr>
          <a:xfrm>
            <a:off x="427745" y="5952288"/>
            <a:ext cx="787037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For isentropic nozzle: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7B90C0-83CB-4C8C-B120-E12EADEAA1A9}"/>
                  </a:ext>
                </a:extLst>
              </p:cNvPr>
              <p:cNvSpPr txBox="1"/>
              <p:nvPr/>
            </p:nvSpPr>
            <p:spPr>
              <a:xfrm>
                <a:off x="5553637" y="604098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 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02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7B90C0-83CB-4C8C-B120-E12EADEAA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637" y="6040986"/>
                <a:ext cx="6096000" cy="369332"/>
              </a:xfrm>
              <a:prstGeom prst="rect">
                <a:avLst/>
              </a:prstGeom>
              <a:blipFill>
                <a:blip r:embed="rId11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A7F155CA-6F81-49AC-A34C-18AF4A52EE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857" y="3568612"/>
            <a:ext cx="3232605" cy="7342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F85FB33-3794-462E-9CC3-97FDAA1EAE7D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31411" b="-5619"/>
          <a:stretch/>
        </p:blipFill>
        <p:spPr>
          <a:xfrm>
            <a:off x="3704113" y="3625766"/>
            <a:ext cx="3107733" cy="5488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4AA78A-60BF-4AD9-92B6-7CDD4142AF7B}"/>
                  </a:ext>
                </a:extLst>
              </p:cNvPr>
              <p:cNvSpPr txBox="1"/>
              <p:nvPr/>
            </p:nvSpPr>
            <p:spPr>
              <a:xfrm>
                <a:off x="633018" y="374386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4AA78A-60BF-4AD9-92B6-7CDD4142A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18" y="3743865"/>
                <a:ext cx="6096000" cy="369332"/>
              </a:xfrm>
              <a:prstGeom prst="rect">
                <a:avLst/>
              </a:prstGeom>
              <a:blipFill>
                <a:blip r:embed="rId1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DE78F00-099B-4C1F-B3DA-37A73583AFB7}"/>
              </a:ext>
            </a:extLst>
          </p:cNvPr>
          <p:cNvCxnSpPr/>
          <p:nvPr/>
        </p:nvCxnSpPr>
        <p:spPr>
          <a:xfrm flipH="1">
            <a:off x="2005811" y="3820314"/>
            <a:ext cx="400333" cy="350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21540C-4F68-44F7-B137-094B4DC63C30}"/>
              </a:ext>
            </a:extLst>
          </p:cNvPr>
          <p:cNvCxnSpPr/>
          <p:nvPr/>
        </p:nvCxnSpPr>
        <p:spPr>
          <a:xfrm flipH="1">
            <a:off x="1605478" y="3837287"/>
            <a:ext cx="400333" cy="350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8D20E5A8-7ED2-4A1D-9826-B27C02066F0B}"/>
              </a:ext>
            </a:extLst>
          </p:cNvPr>
          <p:cNvSpPr txBox="1">
            <a:spLocks/>
          </p:cNvSpPr>
          <p:nvPr/>
        </p:nvSpPr>
        <p:spPr>
          <a:xfrm>
            <a:off x="121779" y="361291"/>
            <a:ext cx="1788459" cy="36933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Section4 :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135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55BDEC-64D8-43F1-939B-1C5018ECC6CA}"/>
              </a:ext>
            </a:extLst>
          </p:cNvPr>
          <p:cNvSpPr txBox="1">
            <a:spLocks/>
          </p:cNvSpPr>
          <p:nvPr/>
        </p:nvSpPr>
        <p:spPr>
          <a:xfrm>
            <a:off x="448234" y="412236"/>
            <a:ext cx="11161059" cy="6033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For the ideal rocket thrust chamber model: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marR="0" lvl="0" indent="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800" dirty="0">
              <a:solidFill>
                <a:sysClr val="windowText" lastClr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-22860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57150" marR="0" lvl="0" indent="-28575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57150" marR="0" lvl="0" indent="-28575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marR="0" lvl="0" indent="-22860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CDF3905-F2FF-48A6-85CA-8AE4488D0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23" y="412236"/>
            <a:ext cx="2580058" cy="65800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332468A-6861-49A2-9BAD-F5222D82E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028" y="1175193"/>
            <a:ext cx="4435224" cy="5715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F302BC-E09B-4C85-A0F4-4068EE452FAA}"/>
              </a:ext>
            </a:extLst>
          </p:cNvPr>
          <p:cNvSpPr txBox="1"/>
          <p:nvPr/>
        </p:nvSpPr>
        <p:spPr>
          <a:xfrm>
            <a:off x="448234" y="2509700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Diverging section nozzle shapes:</a:t>
            </a: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0BAE71-3A4C-4759-AD70-45FD4EF00E41}"/>
              </a:ext>
            </a:extLst>
          </p:cNvPr>
          <p:cNvSpPr txBox="1"/>
          <p:nvPr/>
        </p:nvSpPr>
        <p:spPr>
          <a:xfrm>
            <a:off x="4754906" y="2425725"/>
            <a:ext cx="16401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Conical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nozzle:</a:t>
            </a:r>
          </a:p>
          <a:p>
            <a:pPr marL="342900" indent="-342900"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41AE6B9-DF50-45BA-A32A-6CB536959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346" y="2673911"/>
            <a:ext cx="1290852" cy="12908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64E716-63C7-4AC5-A74D-36325B41320A}"/>
                  </a:ext>
                </a:extLst>
              </p:cNvPr>
              <p:cNvSpPr txBox="1"/>
              <p:nvPr/>
            </p:nvSpPr>
            <p:spPr>
              <a:xfrm>
                <a:off x="6229450" y="2445900"/>
                <a:ext cx="6096000" cy="4126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64E716-63C7-4AC5-A74D-36325B413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450" y="2445900"/>
                <a:ext cx="6096000" cy="412677"/>
              </a:xfrm>
              <a:prstGeom prst="rect">
                <a:avLst/>
              </a:prstGeom>
              <a:blipFill>
                <a:blip r:embed="rId5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35C91773-034C-4E6D-A359-5D5A10E6E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8441" y="2310176"/>
            <a:ext cx="1290852" cy="5484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842B508-1566-4F2B-A208-8413B465E35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581"/>
          <a:stretch/>
        </p:blipFill>
        <p:spPr>
          <a:xfrm>
            <a:off x="6752746" y="2956733"/>
            <a:ext cx="2495220" cy="898554"/>
          </a:xfrm>
          <a:prstGeom prst="rect">
            <a:avLst/>
          </a:prstGeom>
        </p:spPr>
      </p:pic>
      <p:sp>
        <p:nvSpPr>
          <p:cNvPr id="35" name="Left Brace 34">
            <a:extLst>
              <a:ext uri="{FF2B5EF4-FFF2-40B4-BE49-F238E27FC236}">
                <a16:creationId xmlns:a16="http://schemas.microsoft.com/office/drawing/2014/main" id="{577FD9C0-C2FC-433D-9492-761A07C8F12C}"/>
              </a:ext>
            </a:extLst>
          </p:cNvPr>
          <p:cNvSpPr/>
          <p:nvPr/>
        </p:nvSpPr>
        <p:spPr>
          <a:xfrm>
            <a:off x="4410634" y="2445900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09CDA5-30CE-4920-B682-D50BACA2721E}"/>
              </a:ext>
            </a:extLst>
          </p:cNvPr>
          <p:cNvSpPr txBox="1"/>
          <p:nvPr/>
        </p:nvSpPr>
        <p:spPr>
          <a:xfrm>
            <a:off x="8018778" y="2489245"/>
            <a:ext cx="6225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Divergence loss 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C054D7-78DA-475B-892E-801F080B7491}"/>
              </a:ext>
            </a:extLst>
          </p:cNvPr>
          <p:cNvSpPr txBox="1"/>
          <p:nvPr/>
        </p:nvSpPr>
        <p:spPr>
          <a:xfrm>
            <a:off x="526904" y="4201374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Effect of back pressure:</a:t>
            </a:r>
          </a:p>
          <a:p>
            <a:pPr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  <a:defRPr/>
            </a:pPr>
            <a:endParaRPr lang="en-US" sz="18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84FDBFA-3EB6-4CB0-A427-56A4EF2FAE28}"/>
                  </a:ext>
                </a:extLst>
              </p:cNvPr>
              <p:cNvSpPr txBox="1"/>
              <p:nvPr/>
            </p:nvSpPr>
            <p:spPr>
              <a:xfrm>
                <a:off x="6399362" y="5023748"/>
                <a:ext cx="768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84FDBFA-3EB6-4CB0-A427-56A4EF2FA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362" y="5023748"/>
                <a:ext cx="768480" cy="276999"/>
              </a:xfrm>
              <a:prstGeom prst="rect">
                <a:avLst/>
              </a:prstGeom>
              <a:blipFill>
                <a:blip r:embed="rId8"/>
                <a:stretch>
                  <a:fillRect l="-7937" r="-79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E22ECD-A977-47CE-B067-A019D4A39691}"/>
                  </a:ext>
                </a:extLst>
              </p:cNvPr>
              <p:cNvSpPr txBox="1"/>
              <p:nvPr/>
            </p:nvSpPr>
            <p:spPr>
              <a:xfrm>
                <a:off x="6367794" y="4220175"/>
                <a:ext cx="768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E22ECD-A977-47CE-B067-A019D4A39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794" y="4220175"/>
                <a:ext cx="768480" cy="276999"/>
              </a:xfrm>
              <a:prstGeom prst="rect">
                <a:avLst/>
              </a:prstGeom>
              <a:blipFill>
                <a:blip r:embed="rId9"/>
                <a:stretch>
                  <a:fillRect l="-7937" r="-79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eft Brace 43">
            <a:extLst>
              <a:ext uri="{FF2B5EF4-FFF2-40B4-BE49-F238E27FC236}">
                <a16:creationId xmlns:a16="http://schemas.microsoft.com/office/drawing/2014/main" id="{9C592DAF-9D33-4EA4-A5A0-D6A900D1A178}"/>
              </a:ext>
            </a:extLst>
          </p:cNvPr>
          <p:cNvSpPr/>
          <p:nvPr/>
        </p:nvSpPr>
        <p:spPr>
          <a:xfrm>
            <a:off x="3595792" y="4335149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597AB9-CC5A-4E23-A46F-AF8DC9F30E7B}"/>
              </a:ext>
            </a:extLst>
          </p:cNvPr>
          <p:cNvSpPr txBox="1"/>
          <p:nvPr/>
        </p:nvSpPr>
        <p:spPr>
          <a:xfrm>
            <a:off x="3868987" y="41740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Underexpanded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jet: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93FFFC-9348-477D-96CA-354F3BEB9295}"/>
              </a:ext>
            </a:extLst>
          </p:cNvPr>
          <p:cNvSpPr txBox="1"/>
          <p:nvPr/>
        </p:nvSpPr>
        <p:spPr>
          <a:xfrm>
            <a:off x="3911938" y="5049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Overexpanded jet:</a:t>
            </a:r>
          </a:p>
        </p:txBody>
      </p:sp>
    </p:spTree>
    <p:extLst>
      <p:ext uri="{BB962C8B-B14F-4D97-AF65-F5344CB8AC3E}">
        <p14:creationId xmlns:p14="http://schemas.microsoft.com/office/powerpoint/2010/main" val="1451416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1835</TotalTime>
  <Words>531</Words>
  <Application>Microsoft Office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Corbel</vt:lpstr>
      <vt:lpstr>Times New Roman</vt:lpstr>
      <vt:lpstr>Wingdings</vt:lpstr>
      <vt:lpstr>Basis</vt:lpstr>
      <vt:lpstr>Sections 1 – 4 </vt:lpstr>
      <vt:lpstr>Thrust: </vt:lpstr>
      <vt:lpstr>Multi-Stage Rockets:</vt:lpstr>
      <vt:lpstr>PowerPoint Presentation</vt:lpstr>
      <vt:lpstr>Optimization of multistage Rocket</vt:lpstr>
      <vt:lpstr>PowerPoint Presentation</vt:lpstr>
      <vt:lpstr>PowerPoint Presentation</vt:lpstr>
      <vt:lpstr>Characteristic Velocity: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Hamid</cp:lastModifiedBy>
  <cp:revision>75</cp:revision>
  <dcterms:created xsi:type="dcterms:W3CDTF">2024-07-31T20:56:00Z</dcterms:created>
  <dcterms:modified xsi:type="dcterms:W3CDTF">2024-09-21T13:54:05Z</dcterms:modified>
</cp:coreProperties>
</file>