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8" r:id="rId3"/>
    <p:sldId id="270" r:id="rId4"/>
    <p:sldId id="261" r:id="rId5"/>
    <p:sldId id="269" r:id="rId6"/>
    <p:sldId id="27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9" autoAdjust="0"/>
    <p:restoredTop sz="94660"/>
  </p:normalViewPr>
  <p:slideViewPr>
    <p:cSldViewPr snapToGrid="0">
      <p:cViewPr varScale="1">
        <p:scale>
          <a:sx n="97" d="100"/>
          <a:sy n="97" d="100"/>
        </p:scale>
        <p:origin x="63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94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0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77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06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3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78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3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7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9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rc.nasa.gov/WWW/CEAWeb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0728-12A4-4D82-B445-B16279969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447" y="882376"/>
            <a:ext cx="10682493" cy="292608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r>
              <a:rPr lang="en-US" sz="2400" i="0" u="none" strike="noStrike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 6 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EQUILIBRIUM COMBUSTION THERMODYNAMICS;</a:t>
            </a:r>
            <a:b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CHEMICAL REACTIONS</a:t>
            </a:r>
            <a:b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17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1C5DEFB-C10F-49E5-BF51-BA03F62F1B74}"/>
              </a:ext>
            </a:extLst>
          </p:cNvPr>
          <p:cNvSpPr txBox="1">
            <a:spLocks/>
          </p:cNvSpPr>
          <p:nvPr/>
        </p:nvSpPr>
        <p:spPr>
          <a:xfrm>
            <a:off x="302700" y="929453"/>
            <a:ext cx="11331390" cy="57867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C00000"/>
              </a:buClr>
              <a:buFont typeface="+mj-lt"/>
              <a:buAutoNum type="alphaUcPeriod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Chemical Transformation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800" dirty="0">
              <a:solidFill>
                <a:sysClr val="windowText" lastClr="000000"/>
              </a:solidFill>
              <a:latin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Microsoft Uighur" panose="02000000000000000000" pitchFamily="2" charset="-78"/>
              </a:rPr>
              <a:t>                                                               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solid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+ O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CO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   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eat of formation of carbon dioxide (-393.522 kJ/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gmol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 at 298 K: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200" b="0" dirty="0">
              <a:effectLst/>
            </a:endParaRPr>
          </a:p>
          <a:p>
            <a:pPr marL="0" indent="0" algn="justLow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justLow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justLow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fa-IR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CFAFA3-0EA8-4183-BC0E-B959049CD8AE}"/>
              </a:ext>
            </a:extLst>
          </p:cNvPr>
          <p:cNvSpPr txBox="1"/>
          <p:nvPr/>
        </p:nvSpPr>
        <p:spPr>
          <a:xfrm>
            <a:off x="259028" y="394997"/>
            <a:ext cx="11842379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C</a:t>
            </a:r>
            <a:r>
              <a:rPr lang="en-US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omposition and temperature of the exhaust products of a constant-pressure adiabatic combustion process.</a:t>
            </a:r>
            <a:endParaRPr lang="fa-IR" b="1" i="0" u="none" strike="noStrike" dirty="0">
              <a:solidFill>
                <a:srgbClr val="C00000"/>
              </a:solidFill>
              <a:effectLst/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514455-79BC-410B-BC8F-782C2F06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569" y="1040032"/>
            <a:ext cx="3513528" cy="2256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A709F9B-B8E0-4278-AD07-E44EB86458A1}"/>
              </a:ext>
            </a:extLst>
          </p:cNvPr>
          <p:cNvSpPr txBox="1"/>
          <p:nvPr/>
        </p:nvSpPr>
        <p:spPr>
          <a:xfrm>
            <a:off x="4118469" y="144681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reactant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72CC5F-CEA8-4652-AF5B-2B306B4BD5D4}"/>
              </a:ext>
            </a:extLst>
          </p:cNvPr>
          <p:cNvSpPr txBox="1"/>
          <p:nvPr/>
        </p:nvSpPr>
        <p:spPr>
          <a:xfrm>
            <a:off x="5925450" y="150154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product</a:t>
            </a: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7FF4F2AA-F0A3-467B-9BEE-43F44D068DBB}"/>
              </a:ext>
            </a:extLst>
          </p:cNvPr>
          <p:cNvSpPr/>
          <p:nvPr/>
        </p:nvSpPr>
        <p:spPr>
          <a:xfrm rot="16200000">
            <a:off x="4491470" y="835912"/>
            <a:ext cx="161451" cy="9880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02222F9A-D4F1-4182-850B-8D15B8C9B416}"/>
              </a:ext>
            </a:extLst>
          </p:cNvPr>
          <p:cNvSpPr/>
          <p:nvPr/>
        </p:nvSpPr>
        <p:spPr>
          <a:xfrm rot="16200000">
            <a:off x="6232425" y="873309"/>
            <a:ext cx="161451" cy="9880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6555E-AF1D-4711-B4D5-68CA0EA38AA2}"/>
              </a:ext>
            </a:extLst>
          </p:cNvPr>
          <p:cNvSpPr txBox="1"/>
          <p:nvPr/>
        </p:nvSpPr>
        <p:spPr>
          <a:xfrm>
            <a:off x="302700" y="2415363"/>
            <a:ext cx="11017624" cy="857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heat of interaction: </a:t>
            </a:r>
            <a:endParaRPr lang="en-US" dirty="0">
              <a:solidFill>
                <a:sysClr val="windowText" lastClr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romanUcPeriod"/>
              <a:tabLst/>
              <a:defRPr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steady-flow process (experimental):  heat transfer is equal to the change in enthalpy. (No shaft work)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75D5B3-2F66-41C9-BDEA-A68FF02A0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090" y="3490559"/>
            <a:ext cx="993572" cy="5649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699C14-3E23-4C18-AC4E-D1CA14D2C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252" y="3579126"/>
            <a:ext cx="3666592" cy="5029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581EB7-DB3A-4A4C-A91A-286EECF31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851" y="3357110"/>
            <a:ext cx="3795089" cy="10745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7AF6057-0348-4D0E-BD3F-95B2D0D583B8}"/>
              </a:ext>
            </a:extLst>
          </p:cNvPr>
          <p:cNvSpPr txBox="1"/>
          <p:nvPr/>
        </p:nvSpPr>
        <p:spPr>
          <a:xfrm>
            <a:off x="284824" y="4401467"/>
            <a:ext cx="102421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Complex reactions: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6C1246-4583-47A1-82BC-8626EE1E20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8308" y="4645261"/>
            <a:ext cx="2296834" cy="5049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CDD636-9920-48BB-9D1D-2A427D7158A0}"/>
              </a:ext>
            </a:extLst>
          </p:cNvPr>
          <p:cNvSpPr txBox="1"/>
          <p:nvPr/>
        </p:nvSpPr>
        <p:spPr>
          <a:xfrm>
            <a:off x="594968" y="5197737"/>
            <a:ext cx="238831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number of moles of reactant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endParaRPr lang="en-US" sz="1400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79B3692-DDED-4F09-BBC4-F3B9EEA79FAF}"/>
              </a:ext>
            </a:extLst>
          </p:cNvPr>
          <p:cNvCxnSpPr/>
          <p:nvPr/>
        </p:nvCxnSpPr>
        <p:spPr>
          <a:xfrm rot="16200000" flipH="1">
            <a:off x="3846138" y="5097459"/>
            <a:ext cx="262235" cy="717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5797933-D8B9-4D44-9B5B-C22A33D239B1}"/>
              </a:ext>
            </a:extLst>
          </p:cNvPr>
          <p:cNvSpPr txBox="1"/>
          <p:nvPr/>
        </p:nvSpPr>
        <p:spPr>
          <a:xfrm>
            <a:off x="3411764" y="5324327"/>
            <a:ext cx="2320865" cy="3136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heat of formation per mole</a:t>
            </a:r>
            <a:endParaRPr lang="en-US" sz="1400" dirty="0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0FB1575-203E-4CFC-A2D0-44568EB8717C}"/>
              </a:ext>
            </a:extLst>
          </p:cNvPr>
          <p:cNvCxnSpPr/>
          <p:nvPr/>
        </p:nvCxnSpPr>
        <p:spPr>
          <a:xfrm rot="10800000" flipV="1">
            <a:off x="2983279" y="5028892"/>
            <a:ext cx="703446" cy="1955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183759FE-D865-434E-9CCE-FD36252516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450" y="4681407"/>
            <a:ext cx="2482038" cy="4917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FC6A475-ACEC-48B9-A2E5-AC2353439C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968" y="5690926"/>
            <a:ext cx="4362945" cy="4917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A84CEBF-06C1-4C0E-827F-4EA0B4A5B3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968" y="6182651"/>
            <a:ext cx="4880569" cy="38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80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F598-B28A-D413-6E93-83526A89D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Stoichiometric Ratio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34D64-F573-A5A1-93AA-C53E11C92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dirty="0">
                <a:solidFill>
                  <a:schemeClr val="tx1"/>
                </a:solidFill>
              </a:rPr>
              <a:t>In combustion, the </a:t>
            </a:r>
            <a:r>
              <a:rPr lang="en-US" altLang="zh-CN" b="1" dirty="0">
                <a:solidFill>
                  <a:schemeClr val="tx1"/>
                </a:solidFill>
              </a:rPr>
              <a:t>stoichiometric ratio</a:t>
            </a:r>
            <a:r>
              <a:rPr lang="en-US" altLang="zh-CN" dirty="0">
                <a:solidFill>
                  <a:schemeClr val="tx1"/>
                </a:solidFill>
              </a:rPr>
              <a:t> refers to the exact air-to-fuel ratio needed for complete combustion. </a:t>
            </a:r>
          </a:p>
          <a:p>
            <a:pPr algn="just"/>
            <a:r>
              <a:rPr lang="en-US" altLang="zh-CN" dirty="0">
                <a:solidFill>
                  <a:schemeClr val="tx1"/>
                </a:solidFill>
              </a:rPr>
              <a:t>At this ratio, all the fuel burns completely with the available oxygen, leaving no excess fuel or oxygen. </a:t>
            </a:r>
          </a:p>
          <a:p>
            <a:pPr algn="just"/>
            <a:r>
              <a:rPr lang="en-US" altLang="zh-CN" dirty="0">
                <a:solidFill>
                  <a:schemeClr val="tx1"/>
                </a:solidFill>
              </a:rPr>
              <a:t>The products of a stoichiometric combustion reaction typically include </a:t>
            </a:r>
            <a:r>
              <a:rPr lang="en-US" altLang="zh-CN" b="1" dirty="0">
                <a:solidFill>
                  <a:schemeClr val="tx1"/>
                </a:solidFill>
              </a:rPr>
              <a:t>carbon dioxide (CO₂)</a:t>
            </a:r>
            <a:r>
              <a:rPr lang="en-US" altLang="zh-CN" dirty="0">
                <a:solidFill>
                  <a:schemeClr val="tx1"/>
                </a:solidFill>
              </a:rPr>
              <a:t> and </a:t>
            </a:r>
            <a:r>
              <a:rPr lang="en-US" altLang="zh-CN" b="1" dirty="0">
                <a:solidFill>
                  <a:schemeClr val="tx1"/>
                </a:solidFill>
              </a:rPr>
              <a:t>water (H₂O)</a:t>
            </a:r>
            <a:r>
              <a:rPr lang="en-US" altLang="zh-CN" dirty="0">
                <a:solidFill>
                  <a:schemeClr val="tx1"/>
                </a:solidFill>
              </a:rPr>
              <a:t>, without any unburnt fuel or residual oxygen.</a:t>
            </a:r>
          </a:p>
          <a:p>
            <a:pPr algn="just"/>
            <a:r>
              <a:rPr lang="en-US" altLang="zh-CN" dirty="0">
                <a:solidFill>
                  <a:schemeClr val="tx1"/>
                </a:solidFill>
              </a:rPr>
              <a:t>The stoichiometric air-to-fuel ratio is critical because it ensures that the reaction uses the optimal amount of air to burn the fuel completely.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300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73B06BC-AEA2-4C33-8456-F7D948897CCA}"/>
              </a:ext>
            </a:extLst>
          </p:cNvPr>
          <p:cNvSpPr txBox="1"/>
          <p:nvPr/>
        </p:nvSpPr>
        <p:spPr>
          <a:xfrm>
            <a:off x="317973" y="362597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Chemical equilibrium:</a:t>
            </a:r>
            <a:endParaRPr lang="en-US" sz="18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9AD2F0D-BD13-46CA-B4AD-A73CC9823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27" y="1966497"/>
            <a:ext cx="1988938" cy="8575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7DFA3E0-0AC2-4F32-A7F2-6433F5B49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458" t="41880" r="42400" b="44642"/>
          <a:stretch/>
        </p:blipFill>
        <p:spPr>
          <a:xfrm>
            <a:off x="5081894" y="1961374"/>
            <a:ext cx="1639282" cy="7664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50FEF3A-28F0-4FEE-A6D0-34ED5414A98B}"/>
              </a:ext>
            </a:extLst>
          </p:cNvPr>
          <p:cNvSpPr txBox="1"/>
          <p:nvPr/>
        </p:nvSpPr>
        <p:spPr>
          <a:xfrm>
            <a:off x="2752165" y="2150782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 Based on mole fractions :</a:t>
            </a:r>
            <a:endParaRPr lang="en-US" sz="1400" b="1" dirty="0">
              <a:solidFill>
                <a:srgbClr val="C0000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C3067EF-96EC-4D36-BCF3-53A0F9B1B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052" y="2486753"/>
            <a:ext cx="1067768" cy="29015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BAF6AE3-79FE-4887-AC31-4B23E931957C}"/>
              </a:ext>
            </a:extLst>
          </p:cNvPr>
          <p:cNvSpPr txBox="1"/>
          <p:nvPr/>
        </p:nvSpPr>
        <p:spPr>
          <a:xfrm>
            <a:off x="6495981" y="2072472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sz="1600" dirty="0">
                <a:solidFill>
                  <a:srgbClr val="2A2A00"/>
                </a:solidFill>
                <a:latin typeface="Times New Roman" panose="02020603050405020304" pitchFamily="18" charset="0"/>
              </a:rPr>
              <a:t>        </a:t>
            </a:r>
            <a:r>
              <a:rPr lang="en-US" sz="1600" b="0" i="0" u="none" strike="noStrike" dirty="0">
                <a:solidFill>
                  <a:srgbClr val="2A2A00"/>
                </a:solidFill>
                <a:effectLst/>
                <a:latin typeface="Times New Roman" panose="02020603050405020304" pitchFamily="18" charset="0"/>
              </a:rPr>
              <a:t> Gibbs-Dalton law,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C4A8FC9-8A96-4F9D-8838-103EFDFA7A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110" y="2201048"/>
            <a:ext cx="2043974" cy="37163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4F742A0-2DD1-4344-8F18-656349C97609}"/>
              </a:ext>
            </a:extLst>
          </p:cNvPr>
          <p:cNvSpPr txBox="1"/>
          <p:nvPr/>
        </p:nvSpPr>
        <p:spPr>
          <a:xfrm>
            <a:off x="317973" y="941820"/>
            <a:ext cx="73914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Stoichiometric combination of A and B react to form products M and N:</a:t>
            </a:r>
            <a:endParaRPr lang="en-US" sz="16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637BA0-0A76-41CB-A629-D11907639C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177" y="929509"/>
            <a:ext cx="2626426" cy="41626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2D05163-8CD0-4FD8-95AD-9750FFB0ED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7603" y="825623"/>
            <a:ext cx="2301439" cy="20575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5BBBB45-73E0-4F46-9894-C73A6620C2F0}"/>
              </a:ext>
            </a:extLst>
          </p:cNvPr>
          <p:cNvSpPr txBox="1"/>
          <p:nvPr/>
        </p:nvSpPr>
        <p:spPr>
          <a:xfrm>
            <a:off x="9544758" y="1232252"/>
            <a:ext cx="1255059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small number </a:t>
            </a:r>
            <a:endParaRPr lang="en-US" sz="1400" dirty="0"/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95BA2EA8-B9B9-42AC-B44D-799826BDD49B}"/>
              </a:ext>
            </a:extLst>
          </p:cNvPr>
          <p:cNvCxnSpPr/>
          <p:nvPr/>
        </p:nvCxnSpPr>
        <p:spPr>
          <a:xfrm>
            <a:off x="8938395" y="1267375"/>
            <a:ext cx="606363" cy="153681"/>
          </a:xfrm>
          <a:prstGeom prst="curvedConnector3">
            <a:avLst>
              <a:gd name="adj1" fmla="val 26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4AAF9B7-F9CB-406B-9B6D-F0F6105DB83E}"/>
              </a:ext>
            </a:extLst>
          </p:cNvPr>
          <p:cNvSpPr txBox="1"/>
          <p:nvPr/>
        </p:nvSpPr>
        <p:spPr>
          <a:xfrm>
            <a:off x="316419" y="1448833"/>
            <a:ext cx="6932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Equilibrium constant for the mixture in term of partial pressures: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C5022377-AED0-41AA-A026-BB0173800C95}"/>
              </a:ext>
            </a:extLst>
          </p:cNvPr>
          <p:cNvSpPr/>
          <p:nvPr/>
        </p:nvSpPr>
        <p:spPr>
          <a:xfrm>
            <a:off x="6943455" y="2342649"/>
            <a:ext cx="1869286" cy="1269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B6E8B21-90E1-4B8A-9F02-BC3CE3CBE43C}"/>
              </a:ext>
            </a:extLst>
          </p:cNvPr>
          <p:cNvSpPr/>
          <p:nvPr/>
        </p:nvSpPr>
        <p:spPr>
          <a:xfrm>
            <a:off x="2870676" y="2392300"/>
            <a:ext cx="1988939" cy="1653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4E1B0C23-1C25-42D2-AADE-5296E2C11B24}"/>
              </a:ext>
            </a:extLst>
          </p:cNvPr>
          <p:cNvSpPr txBox="1">
            <a:spLocks/>
          </p:cNvSpPr>
          <p:nvPr/>
        </p:nvSpPr>
        <p:spPr>
          <a:xfrm>
            <a:off x="206931" y="3156621"/>
            <a:ext cx="11161059" cy="60335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Composition of Products:</a:t>
            </a:r>
            <a:endParaRPr lang="en-US" sz="18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indent="0" algn="justLow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8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indent="0" algn="justLow">
              <a:lnSpc>
                <a:spcPct val="150000"/>
              </a:lnSpc>
              <a:spcBef>
                <a:spcPts val="0"/>
              </a:spcBef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indent="0" algn="justLow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8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  <a:defRPr/>
            </a:pPr>
            <a:endParaRPr lang="en-US" sz="18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  <a:defRPr/>
            </a:pPr>
            <a:endParaRPr lang="en-US" sz="18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marR="0" lvl="0" indent="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800" dirty="0">
              <a:solidFill>
                <a:sysClr val="windowText" lastClr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-22860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57150" marR="0" lvl="0" indent="-28575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57150" marR="0" lvl="0" indent="-28575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marR="0" lvl="0" indent="-22860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278A028-846D-46D9-9080-85D48D51D4D5}"/>
              </a:ext>
            </a:extLst>
          </p:cNvPr>
          <p:cNvSpPr txBox="1"/>
          <p:nvPr/>
        </p:nvSpPr>
        <p:spPr>
          <a:xfrm>
            <a:off x="161167" y="3804511"/>
            <a:ext cx="110265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combustion of a particular nonstoichiometric mixture of octane and oxygen at low temperature:</a:t>
            </a:r>
            <a:endParaRPr lang="en-US" sz="16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1C435C6-28BD-4162-A301-E92611404B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774" y="4148387"/>
            <a:ext cx="4501606" cy="43638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ECB21AA1-2E4A-4CA1-8811-558D4593BC31}"/>
              </a:ext>
            </a:extLst>
          </p:cNvPr>
          <p:cNvSpPr txBox="1"/>
          <p:nvPr/>
        </p:nvSpPr>
        <p:spPr>
          <a:xfrm>
            <a:off x="160418" y="4452495"/>
            <a:ext cx="10954871" cy="95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At high temperatures:</a:t>
            </a:r>
            <a:endParaRPr lang="en-US" sz="40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2DD7F68-CD69-43EA-A9BE-DC71158CA6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2165" y="4785359"/>
            <a:ext cx="5888236" cy="628318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DC233F7-6FB9-4F4F-9352-BEFED3115BD3}"/>
              </a:ext>
            </a:extLst>
          </p:cNvPr>
          <p:cNvSpPr txBox="1"/>
          <p:nvPr/>
        </p:nvSpPr>
        <p:spPr>
          <a:xfrm>
            <a:off x="212030" y="5921479"/>
            <a:ext cx="6096000" cy="98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16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Atom balances yield:</a:t>
            </a:r>
            <a:endParaRPr lang="en-US" sz="1600" b="1" dirty="0">
              <a:solidFill>
                <a:srgbClr val="C00000"/>
              </a:solidFill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FE24C07-941D-406A-8992-C02C5A1C2B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2871" y="5465615"/>
            <a:ext cx="4066215" cy="1011826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525DBF1-9AB2-44F4-9FAB-AB3A1BB9FBBD}"/>
              </a:ext>
            </a:extLst>
          </p:cNvPr>
          <p:cNvSpPr txBox="1"/>
          <p:nvPr/>
        </p:nvSpPr>
        <p:spPr>
          <a:xfrm>
            <a:off x="7709380" y="6032377"/>
            <a:ext cx="3987189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six more independent equations are required.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70421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85A0A5-1E84-47DA-8CAE-B500E44BD974}"/>
              </a:ext>
            </a:extLst>
          </p:cNvPr>
          <p:cNvSpPr txBox="1"/>
          <p:nvPr/>
        </p:nvSpPr>
        <p:spPr>
          <a:xfrm>
            <a:off x="313764" y="1133146"/>
            <a:ext cx="110355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Reactions Close to Stoichiometry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Rocket combustors ,   Ramjet combustors, Piston engines, Welding torches)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</a:p>
          <a:p>
            <a:pPr marR="0" algn="l"/>
            <a:endParaRPr lang="en-US" sz="18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C0D92E-6C3A-4B0D-B772-DBF96CD8A155}"/>
              </a:ext>
            </a:extLst>
          </p:cNvPr>
          <p:cNvSpPr txBox="1"/>
          <p:nvPr/>
        </p:nvSpPr>
        <p:spPr>
          <a:xfrm>
            <a:off x="546846" y="1522666"/>
            <a:ext cx="1125967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easily predict the final composition of the burnt gases 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molecules like H</a:t>
            </a:r>
            <a:r>
              <a:rPr lang="en-US" sz="1600" b="0" i="0" u="none" strike="noStrike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tend to break down into simpler ones such as O, H ,OH</a:t>
            </a:r>
            <a:endParaRPr lang="en-US" sz="1600" b="1" i="0" u="none" strike="noStrike" baseline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procedure to Determine the temperature and other properties of the gas products :</a:t>
            </a:r>
            <a:endParaRPr lang="en-US" sz="20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l">
              <a:buFont typeface="+mj-lt"/>
              <a:buAutoNum type="arabicPeriod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possible molecular species in the products, classify them into major and minor. </a:t>
            </a:r>
          </a:p>
          <a:p>
            <a:pPr marL="342900" marR="0" indent="-342900" algn="l">
              <a:buFont typeface="+mj-lt"/>
              <a:buAutoNum type="arabicPeriod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Neglect at first the “minor” species, obtain the “major” species concentration and an approximate temperature.</a:t>
            </a:r>
          </a:p>
          <a:p>
            <a:pPr marL="342900" marR="0" indent="-342900" algn="l">
              <a:buFont typeface="+mj-lt"/>
              <a:buAutoNum type="arabicPeriod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chemical reactions which would produce one “minor” species at a time from only “major” ones. </a:t>
            </a:r>
          </a:p>
          <a:p>
            <a:pPr marL="342900" marR="0" indent="-342900" algn="l">
              <a:buFont typeface="+mj-lt"/>
              <a:buAutoNum type="arabicPeriod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their equilibrium constants at the approximate temperature of step (2), </a:t>
            </a:r>
          </a:p>
          <a:p>
            <a:pPr marL="342900" marR="0" indent="-342900" algn="l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the equilibrium laws to calculate the concentrations of the “minors”.</a:t>
            </a:r>
          </a:p>
          <a:p>
            <a:pPr marL="342900" marR="0" indent="-342900" algn="l">
              <a:buFont typeface="+mj-lt"/>
              <a:buAutoNum type="arabicPeriod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the “majors” concentration, and do a new enthalpy balance to obtain an improved temperature.</a:t>
            </a:r>
          </a:p>
          <a:p>
            <a:pPr marL="342900" marR="0" indent="-342900" algn="l">
              <a:buFont typeface="+mj-lt"/>
              <a:buAutoNum type="arabicPeriod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Iterate back to step (3) until convergence is obtained</a:t>
            </a:r>
          </a:p>
        </p:txBody>
      </p:sp>
    </p:spTree>
    <p:extLst>
      <p:ext uri="{BB962C8B-B14F-4D97-AF65-F5344CB8AC3E}">
        <p14:creationId xmlns:p14="http://schemas.microsoft.com/office/powerpoint/2010/main" val="1206603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BA06-5AE1-A09B-FF94-D2C0D846F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12839"/>
          </a:xfrm>
        </p:spPr>
        <p:txBody>
          <a:bodyPr/>
          <a:lstStyle/>
          <a:p>
            <a:r>
              <a:rPr lang="en-US" altLang="zh-CN" dirty="0"/>
              <a:t>NASA CEA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55BB2-D6D8-7CBD-869B-2EF2B6CB4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84671"/>
            <a:ext cx="10070690" cy="481289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There are several computational tools and codes available that can perform the iterative process for determining the temperature and concentrations of the gas products in equilibrium reactions.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Here are some popular software tools and approaches: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1. NASA CEA (Chemical Equilibrium with Applications)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Description</a:t>
            </a:r>
            <a:r>
              <a:rPr lang="en-US" altLang="zh-CN" dirty="0">
                <a:solidFill>
                  <a:schemeClr val="tx1"/>
                </a:solidFill>
              </a:rPr>
              <a:t>: NASA CEA is a well-established software for calculating chemical equilibrium compositions and thermodynamic properties of products from combustion and other chemical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Capabilities</a:t>
            </a:r>
            <a:r>
              <a:rPr lang="en-US" altLang="zh-CN" dirty="0">
                <a:solidFill>
                  <a:schemeClr val="tx1"/>
                </a:solidFill>
              </a:rPr>
              <a:t>: It can perform equilibrium calculations for major and minor species, determine concentrations, and iterate until convergence.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How to Use</a:t>
            </a:r>
            <a:r>
              <a:rPr lang="en-US" altLang="zh-CN" dirty="0">
                <a:solidFill>
                  <a:schemeClr val="tx1"/>
                </a:solidFill>
              </a:rPr>
              <a:t>: You can input your reactants, conditions (like pressure and temperature), and the program will compute equilibrium states.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Language</a:t>
            </a:r>
            <a:r>
              <a:rPr lang="en-US" altLang="zh-CN" dirty="0">
                <a:solidFill>
                  <a:schemeClr val="tx1"/>
                </a:solidFill>
              </a:rPr>
              <a:t>: NASA CEA is standalone software but can be integrated into Python or MATLAB for automation.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Download Link</a:t>
            </a:r>
            <a:r>
              <a:rPr lang="en-US" altLang="zh-CN" dirty="0">
                <a:solidFill>
                  <a:schemeClr val="tx1"/>
                </a:solidFill>
              </a:rPr>
              <a:t>: </a:t>
            </a:r>
            <a:r>
              <a:rPr lang="en-US" altLang="zh-CN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NASA CEA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3913431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2333</TotalTime>
  <Words>582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Corbel</vt:lpstr>
      <vt:lpstr>Times New Roman</vt:lpstr>
      <vt:lpstr>Verdana</vt:lpstr>
      <vt:lpstr>Wingdings</vt:lpstr>
      <vt:lpstr>Basis</vt:lpstr>
      <vt:lpstr>Section 6 – EQUILIBRIUM COMBUSTION THERMODYNAMICS; CHEMICAL REACTIONS </vt:lpstr>
      <vt:lpstr>PowerPoint Presentation</vt:lpstr>
      <vt:lpstr>Stoichiometric Ratio</vt:lpstr>
      <vt:lpstr>PowerPoint Presentation</vt:lpstr>
      <vt:lpstr>PowerPoint Presentation</vt:lpstr>
      <vt:lpstr>NASA CEA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</dc:creator>
  <cp:lastModifiedBy>Roohi Golkhatmi, Ehsan</cp:lastModifiedBy>
  <cp:revision>151</cp:revision>
  <dcterms:created xsi:type="dcterms:W3CDTF">2024-07-31T20:56:00Z</dcterms:created>
  <dcterms:modified xsi:type="dcterms:W3CDTF">2024-09-30T00:43:29Z</dcterms:modified>
</cp:coreProperties>
</file>